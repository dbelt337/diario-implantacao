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700"/>
      </a:lvl1pPr>
    </p:titleStyle>
    <p:bodyStyle>
      <a:lvl1pPr>
        <a:defRPr sz="1400"/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3"/>
          <p:cNvSpPr/>
          <p:nvPr/>
        </p:nvSpPr>
        <p:spPr>
          <a:xfrm>
            <a:off x="822960" y="1847088"/>
            <a:ext cx="146304" cy="146304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4"/>
          <p:cNvSpPr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4000" b="1" i="0" dirty="0">
                <a:solidFill>
                  <a:srgbClr val="FFFFFF"/>
                </a:solidFill>
                <a:latin typeface="Calibri"/>
                <a:cs typeface="Calibri"/>
              </a:rPr>
              <a:t>Arquitetura da Frente de Vendas</a:t>
            </a:r>
          </a:p>
          <a:p>
            <a:pPr algn="l">
              <a:buNone/>
            </a:pPr>
            <a:r>
              <a:rPr lang="pt-BR" sz="1900" b="0" i="0" dirty="0">
                <a:solidFill>
                  <a:srgbClr val="CADCFC"/>
                </a:solidFill>
                <a:latin typeface="Calibri"/>
                <a:cs typeface="Calibri"/>
              </a:rPr>
              <a:t>Validação com o Time de Produto Salesforce — uso de Apex e LWC</a:t>
            </a:r>
          </a:p>
        </p:txBody>
      </p:sp>
      <p:sp>
        <p:nvSpPr>
          <p:cNvPr id="5" name="s5"/>
          <p:cNvSpPr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400" b="0" i="0" dirty="0">
                <a:solidFill>
                  <a:srgbClr val="CADCFC"/>
                </a:solidFill>
                <a:latin typeface="Calibri"/>
                <a:cs typeface="Calibri"/>
              </a:rPr>
              <a:t>Cotização  &gt;  Pedido  &gt;  SAP  &gt;  Assetização</a:t>
            </a:r>
          </a:p>
          <a:p>
            <a:pPr algn="l">
              <a:buNone/>
            </a:pPr>
            <a:r>
              <a:rPr lang="pt-BR" sz="1300" b="0" i="0" dirty="0">
                <a:solidFill>
                  <a:srgbClr val="CADCFC"/>
                </a:solidFill>
                <a:latin typeface="Calibri"/>
                <a:cs typeface="Calibri"/>
              </a:rPr>
              <a:t>GrupoQ  ·  Salesforce Automotive Cloud  ·  Enfoque native-first</a:t>
            </a:r>
          </a:p>
        </p:txBody>
      </p:sp>
      <p:sp>
        <p:nvSpPr>
          <p:cNvPr id="6" name="s6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1100" b="0" i="0" dirty="0">
                <a:solidFill>
                  <a:srgbClr val="CADCFC"/>
                </a:solidFill>
                <a:latin typeface="Calibri"/>
                <a:cs typeface="Calibri"/>
              </a:rPr>
              <a:t>OSF Digital  ·  Julho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7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2700" b="1" i="0" dirty="0">
                <a:solidFill>
                  <a:srgbClr val="1F3864"/>
                </a:solidFill>
                <a:latin typeface="Calibri"/>
                <a:cs typeface="Calibri"/>
              </a:rPr>
              <a:t>Contexto e escopo</a:t>
            </a:r>
          </a:p>
        </p:txBody>
      </p:sp>
      <p:sp>
        <p:nvSpPr>
          <p:cNvPr id="8" name="s8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1300" b="0" i="0" dirty="0">
                <a:solidFill>
                  <a:srgbClr val="6B7280"/>
                </a:solidFill>
                <a:latin typeface="Calibri"/>
                <a:cs typeface="Calibri"/>
              </a:rPr>
              <a:t>O fluxo de venda guiada em validação — o que precisa ser coberto</a:t>
            </a:r>
          </a:p>
        </p:txBody>
      </p:sp>
      <p:sp>
        <p:nvSpPr>
          <p:cNvPr id="9" name="s9"/>
          <p:cNvSpPr/>
          <p:nvPr/>
        </p:nvSpPr>
        <p:spPr>
          <a:xfrm>
            <a:off x="640080" y="155448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1600" b="1" i="0" dirty="0">
                <a:solidFill>
                  <a:srgbClr val="1F3864"/>
                </a:solidFill>
                <a:latin typeface="Calibri"/>
                <a:cs typeface="Calibri"/>
              </a:rPr>
              <a:t>Cinco linhas de negócio, um fluxo guiado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057400"/>
            <a:ext cx="557784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 marL="228600" indent="-228600">
              <a:spcAft>
                <a:spcPts val="10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50" b="0" i="0" dirty="0">
                <a:solidFill>
                  <a:srgbClr val="222222"/>
                </a:solidFill>
                <a:latin typeface="Calibri"/>
                <a:cs typeface="Calibri"/>
              </a:rPr>
              <a:t>Venda guiada em cinco linhas: Autos, Motos, Usados, Repuestos e PA — a partir da Oportunidade</a:t>
            </a:r>
          </a:p>
          <a:p>
            <a:pPr algn="l" marL="228600" indent="-228600">
              <a:spcAft>
                <a:spcPts val="10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50" b="0" i="0" dirty="0">
                <a:solidFill>
                  <a:srgbClr val="222222"/>
                </a:solidFill>
                <a:latin typeface="Calibri"/>
                <a:cs typeface="Calibri"/>
              </a:rPr>
              <a:t>Consulta de preço e estoque em tempo real no SAP (via MuleSoft)</a:t>
            </a:r>
          </a:p>
          <a:p>
            <a:pPr algn="l" marL="228600" indent="-228600">
              <a:spcAft>
                <a:spcPts val="10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50" b="0" i="0" dirty="0">
                <a:solidFill>
                  <a:srgbClr val="222222"/>
                </a:solidFill>
                <a:latin typeface="Calibri"/>
                <a:cs typeface="Calibri"/>
              </a:rPr>
              <a:t>Envio do pedido ao SAP e retorno de faturamento (o SAP não fatura de imediato)</a:t>
            </a:r>
          </a:p>
          <a:p>
            <a:pPr algn="l" marL="228600" indent="-228600">
              <a:spcAft>
                <a:spcPts val="10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50" b="0" i="0" dirty="0">
                <a:solidFill>
                  <a:srgbClr val="222222"/>
                </a:solidFill>
                <a:latin typeface="Calibri"/>
                <a:cs typeface="Calibri"/>
              </a:rPr>
              <a:t>Assetização nativa e visão 360 do cliente</a:t>
            </a:r>
          </a:p>
          <a:p>
            <a:pPr algn="l" marL="228600" indent="-228600">
              <a:spcAft>
                <a:spcPts val="10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50" b="0" i="0" dirty="0">
                <a:solidFill>
                  <a:srgbClr val="222222"/>
                </a:solidFill>
                <a:latin typeface="Calibri"/>
                <a:cs typeface="Calibri"/>
              </a:rPr>
              <a:t>Preço, imposto e exoneração de referência — regras mantidas pelo negócio</a:t>
            </a:r>
          </a:p>
        </p:txBody>
      </p:sp>
      <p:sp>
        <p:nvSpPr>
          <p:cNvPr id="11" name="s11"/>
          <p:cNvSpPr/>
          <p:nvPr/>
        </p:nvSpPr>
        <p:spPr>
          <a:xfrm>
            <a:off x="6858000" y="1600200"/>
            <a:ext cx="4663440" cy="841248"/>
          </a:xfrm>
          <a:prstGeom prst="roundRect">
            <a:avLst>
              <a:gd name="adj" fmla="val 14000"/>
            </a:avLst>
          </a:prstGeom>
          <a:solidFill>
            <a:srgbClr val="DDEBF7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28016" tIns="128016" rIns="128016" bIns="128016" anchor="ctr">
            <a:normAutofit/>
          </a:bodyPr>
          <a:lstStyle/>
          <a:p>
            <a:pPr algn="l">
              <a:buNone/>
            </a:pPr>
            <a:r>
              <a:rPr lang="pt-BR" sz="1450" b="1" i="0" dirty="0">
                <a:solidFill>
                  <a:srgbClr val="1F3864"/>
                </a:solidFill>
                <a:latin typeface="Calibri"/>
                <a:cs typeface="Calibri"/>
              </a:rPr>
              <a:t>Cotização  —  </a:t>
            </a:r>
            <a:r>
              <a:rPr lang="pt-BR" sz="1250" b="0" i="0" dirty="0">
                <a:solidFill>
                  <a:srgbClr val="222222"/>
                </a:solidFill>
                <a:latin typeface="Calibri"/>
                <a:cs typeface="Calibri"/>
              </a:rPr>
              <a:t>referência comercial (BRE) — rápida, negociável</a:t>
            </a:r>
          </a:p>
        </p:txBody>
      </p:sp>
      <p:sp>
        <p:nvSpPr>
          <p:cNvPr id="12" name="s12"/>
          <p:cNvSpPr/>
          <p:nvPr/>
        </p:nvSpPr>
        <p:spPr>
          <a:xfrm>
            <a:off x="9052560" y="2459736"/>
            <a:ext cx="274320" cy="274320"/>
          </a:xfrm>
          <a:prstGeom prst="downArrow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13"/>
          <p:cNvSpPr/>
          <p:nvPr/>
        </p:nvSpPr>
        <p:spPr>
          <a:xfrm>
            <a:off x="6858000" y="2770632"/>
            <a:ext cx="4663440" cy="841248"/>
          </a:xfrm>
          <a:prstGeom prst="roundRect">
            <a:avLst>
              <a:gd name="adj" fmla="val 14000"/>
            </a:avLst>
          </a:prstGeom>
          <a:solidFill>
            <a:srgbClr val="DDEBF7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28016" tIns="128016" rIns="128016" bIns="128016" anchor="ctr">
            <a:normAutofit/>
          </a:bodyPr>
          <a:lstStyle/>
          <a:p>
            <a:pPr algn="l">
              <a:buNone/>
            </a:pPr>
            <a:r>
              <a:rPr lang="pt-BR" sz="1450" b="1" i="0" dirty="0">
                <a:solidFill>
                  <a:srgbClr val="1F3864"/>
                </a:solidFill>
                <a:latin typeface="Calibri"/>
                <a:cs typeface="Calibri"/>
              </a:rPr>
              <a:t>Pedido  —  </a:t>
            </a:r>
            <a:r>
              <a:rPr lang="pt-BR" sz="1250" b="0" i="0" dirty="0">
                <a:solidFill>
                  <a:srgbClr val="222222"/>
                </a:solidFill>
                <a:latin typeface="Calibri"/>
                <a:cs typeface="Calibri"/>
              </a:rPr>
              <a:t>Record Types por fluxo; Quote and Order Capture</a:t>
            </a:r>
          </a:p>
        </p:txBody>
      </p:sp>
      <p:sp>
        <p:nvSpPr>
          <p:cNvPr id="14" name="s14"/>
          <p:cNvSpPr/>
          <p:nvPr/>
        </p:nvSpPr>
        <p:spPr>
          <a:xfrm>
            <a:off x="9052560" y="3630168"/>
            <a:ext cx="274320" cy="274320"/>
          </a:xfrm>
          <a:prstGeom prst="downArrow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15"/>
          <p:cNvSpPr/>
          <p:nvPr/>
        </p:nvSpPr>
        <p:spPr>
          <a:xfrm>
            <a:off x="6858000" y="3941064"/>
            <a:ext cx="4663440" cy="841248"/>
          </a:xfrm>
          <a:prstGeom prst="roundRect">
            <a:avLst>
              <a:gd name="adj" fmla="val 14000"/>
            </a:avLst>
          </a:prstGeom>
          <a:solidFill>
            <a:srgbClr val="DDEBF7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28016" tIns="128016" rIns="128016" bIns="128016" anchor="ctr">
            <a:normAutofit/>
          </a:bodyPr>
          <a:lstStyle/>
          <a:p>
            <a:pPr algn="l">
              <a:buNone/>
            </a:pPr>
            <a:r>
              <a:rPr lang="pt-BR" sz="1450" b="1" i="0" dirty="0">
                <a:solidFill>
                  <a:srgbClr val="1F3864"/>
                </a:solidFill>
                <a:latin typeface="Calibri"/>
                <a:cs typeface="Calibri"/>
              </a:rPr>
              <a:t>SAP  —  </a:t>
            </a:r>
            <a:r>
              <a:rPr lang="pt-BR" sz="1250" b="0" i="0" dirty="0">
                <a:solidFill>
                  <a:srgbClr val="222222"/>
                </a:solidFill>
                <a:latin typeface="Calibri"/>
                <a:cs typeface="Calibri"/>
              </a:rPr>
              <a:t>autoridade fiscal: valida estoque real e fatura</a:t>
            </a:r>
          </a:p>
        </p:txBody>
      </p:sp>
      <p:sp>
        <p:nvSpPr>
          <p:cNvPr id="16" name="s16"/>
          <p:cNvSpPr/>
          <p:nvPr/>
        </p:nvSpPr>
        <p:spPr>
          <a:xfrm>
            <a:off x="9052560" y="4800600"/>
            <a:ext cx="274320" cy="274320"/>
          </a:xfrm>
          <a:prstGeom prst="downArrow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17"/>
          <p:cNvSpPr/>
          <p:nvPr/>
        </p:nvSpPr>
        <p:spPr>
          <a:xfrm>
            <a:off x="6858000" y="5111496"/>
            <a:ext cx="4663440" cy="841248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28016" tIns="128016" rIns="128016" bIns="128016" anchor="ctr">
            <a:normAutofit/>
          </a:bodyPr>
          <a:lstStyle/>
          <a:p>
            <a:pPr algn="l">
              <a:buNone/>
            </a:pPr>
            <a:r>
              <a:rPr lang="pt-BR" sz="1450" b="1" i="0" dirty="0">
                <a:solidFill>
                  <a:srgbClr val="FFFFFF"/>
                </a:solidFill>
                <a:latin typeface="Calibri"/>
                <a:cs typeface="Calibri"/>
              </a:rPr>
              <a:t>Assetização  —  </a:t>
            </a:r>
            <a:r>
              <a:rPr lang="pt-BR" sz="1250" b="0" i="0" dirty="0">
                <a:solidFill>
                  <a:srgbClr val="CADCFC"/>
                </a:solidFill>
                <a:latin typeface="Calibri"/>
                <a:cs typeface="Calibri"/>
              </a:rPr>
              <a:t>Asset + Vehicle + Participant, via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18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2700" b="1" i="0" dirty="0">
                <a:solidFill>
                  <a:srgbClr val="1F3864"/>
                </a:solidFill>
                <a:latin typeface="Calibri"/>
                <a:cs typeface="Calibri"/>
              </a:rPr>
              <a:t>O que permanece nativo</a:t>
            </a:r>
          </a:p>
        </p:txBody>
      </p:sp>
      <p:sp>
        <p:nvSpPr>
          <p:cNvPr id="19" name="s19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1300" b="0" i="0" dirty="0">
                <a:solidFill>
                  <a:srgbClr val="6B7280"/>
                </a:solidFill>
                <a:latin typeface="Calibri"/>
                <a:cs typeface="Calibri"/>
              </a:rPr>
              <a:t>A maior parte da solução é padrão Automotive Cloud — sem estruturas paralelas</a:t>
            </a:r>
          </a:p>
        </p:txBody>
      </p:sp>
      <p:sp>
        <p:nvSpPr>
          <p:cNvPr id="20" name="s20"/>
          <p:cNvSpPr/>
          <p:nvPr/>
        </p:nvSpPr>
        <p:spPr>
          <a:xfrm>
            <a:off x="640080" y="1600200"/>
            <a:ext cx="3675887" cy="212140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82880" tIns="182880" rIns="182880" bIns="18288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550" b="1" i="0" dirty="0">
                <a:solidFill>
                  <a:srgbClr val="1F3864"/>
                </a:solidFill>
                <a:latin typeface="Calibri"/>
                <a:cs typeface="Calibri"/>
              </a:rPr>
              <a:t>Modelo de dados</a:t>
            </a:r>
          </a:p>
          <a:p>
            <a:pPr algn="l">
              <a:buNone/>
            </a:pPr>
            <a:r>
              <a:rPr lang="pt-BR" sz="1250" b="0" i="0" dirty="0">
                <a:solidFill>
                  <a:srgbClr val="222222"/>
                </a:solidFill>
                <a:latin typeface="Calibri"/>
                <a:cs typeface="Calibri"/>
              </a:rPr>
              <a:t>Product2, VehicleDefinition, Vehicle, Asset — objetos padrão do Automotive Cloud</a:t>
            </a:r>
          </a:p>
        </p:txBody>
      </p:sp>
      <p:sp>
        <p:nvSpPr>
          <p:cNvPr id="21" name="s21"/>
          <p:cNvSpPr/>
          <p:nvPr/>
        </p:nvSpPr>
        <p:spPr>
          <a:xfrm>
            <a:off x="822959" y="1490472"/>
            <a:ext cx="219456" cy="219456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22"/>
          <p:cNvSpPr/>
          <p:nvPr/>
        </p:nvSpPr>
        <p:spPr>
          <a:xfrm>
            <a:off x="4572000" y="1600200"/>
            <a:ext cx="3675887" cy="212140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82880" tIns="182880" rIns="182880" bIns="18288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550" b="1" i="0" dirty="0">
                <a:solidFill>
                  <a:srgbClr val="1F3864"/>
                </a:solidFill>
                <a:latin typeface="Calibri"/>
                <a:cs typeface="Calibri"/>
              </a:rPr>
              <a:t>Cotização e pedido</a:t>
            </a:r>
          </a:p>
          <a:p>
            <a:pPr algn="l">
              <a:buNone/>
            </a:pPr>
            <a:r>
              <a:rPr lang="pt-BR" sz="1250" b="0" i="0" dirty="0">
                <a:solidFill>
                  <a:srgbClr val="222222"/>
                </a:solidFill>
                <a:latin typeface="Calibri"/>
                <a:cs typeface="Calibri"/>
              </a:rPr>
              <a:t>Quote and Order Capture; Standalone Orders para a contraventa de balcão</a:t>
            </a:r>
          </a:p>
        </p:txBody>
      </p:sp>
      <p:sp>
        <p:nvSpPr>
          <p:cNvPr id="23" name="s23"/>
          <p:cNvSpPr/>
          <p:nvPr/>
        </p:nvSpPr>
        <p:spPr>
          <a:xfrm>
            <a:off x="4754880" y="1490472"/>
            <a:ext cx="219456" cy="219456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24"/>
          <p:cNvSpPr/>
          <p:nvPr/>
        </p:nvSpPr>
        <p:spPr>
          <a:xfrm>
            <a:off x="8503919" y="1600200"/>
            <a:ext cx="3675887" cy="212140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82880" tIns="182880" rIns="182880" bIns="18288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550" b="1" i="0" dirty="0">
                <a:solidFill>
                  <a:srgbClr val="1F3864"/>
                </a:solidFill>
                <a:latin typeface="Calibri"/>
                <a:cs typeface="Calibri"/>
              </a:rPr>
              <a:t>Record Types</a:t>
            </a:r>
          </a:p>
          <a:p>
            <a:pPr algn="l">
              <a:buNone/>
            </a:pPr>
            <a:r>
              <a:rPr lang="pt-BR" sz="1250" b="0" i="0" dirty="0">
                <a:solidFill>
                  <a:srgbClr val="222222"/>
                </a:solidFill>
                <a:latin typeface="Calibri"/>
                <a:cs typeface="Calibri"/>
              </a:rPr>
              <a:t>Venta Vehículo, Contraventa Repuestos, Usados — o contexto define o fluxo</a:t>
            </a:r>
          </a:p>
        </p:txBody>
      </p:sp>
      <p:sp>
        <p:nvSpPr>
          <p:cNvPr id="25" name="s25"/>
          <p:cNvSpPr/>
          <p:nvPr/>
        </p:nvSpPr>
        <p:spPr>
          <a:xfrm>
            <a:off x="8686799" y="1490472"/>
            <a:ext cx="219456" cy="219456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s26"/>
          <p:cNvSpPr/>
          <p:nvPr/>
        </p:nvSpPr>
        <p:spPr>
          <a:xfrm>
            <a:off x="640080" y="3977639"/>
            <a:ext cx="3675887" cy="212140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82880" tIns="182880" rIns="182880" bIns="18288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550" b="1" i="0" dirty="0">
                <a:solidFill>
                  <a:srgbClr val="1F3864"/>
                </a:solidFill>
                <a:latin typeface="Calibri"/>
                <a:cs typeface="Calibri"/>
              </a:rPr>
              <a:t>Assetização via Flow</a:t>
            </a:r>
          </a:p>
          <a:p>
            <a:pPr algn="l">
              <a:buNone/>
            </a:pPr>
            <a:r>
              <a:rPr lang="pt-BR" sz="1250" b="0" i="0" dirty="0">
                <a:solidFill>
                  <a:srgbClr val="222222"/>
                </a:solidFill>
                <a:latin typeface="Calibri"/>
                <a:cs typeface="Calibri"/>
              </a:rPr>
              <a:t>Asset + Vehicle (CurrentOwnerId) + Asset Contact Participant — declarativo</a:t>
            </a:r>
          </a:p>
        </p:txBody>
      </p:sp>
      <p:sp>
        <p:nvSpPr>
          <p:cNvPr id="27" name="s27"/>
          <p:cNvSpPr/>
          <p:nvPr/>
        </p:nvSpPr>
        <p:spPr>
          <a:xfrm>
            <a:off x="822959" y="3867911"/>
            <a:ext cx="219456" cy="219456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28"/>
          <p:cNvSpPr/>
          <p:nvPr/>
        </p:nvSpPr>
        <p:spPr>
          <a:xfrm>
            <a:off x="4572000" y="3977639"/>
            <a:ext cx="3675887" cy="212140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82880" tIns="182880" rIns="182880" bIns="18288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550" b="1" i="0" dirty="0">
                <a:solidFill>
                  <a:srgbClr val="1F3864"/>
                </a:solidFill>
                <a:latin typeface="Calibri"/>
                <a:cs typeface="Calibri"/>
              </a:rPr>
              <a:t>Inventário nativo</a:t>
            </a:r>
          </a:p>
          <a:p>
            <a:pPr algn="l">
              <a:buNone/>
            </a:pPr>
            <a:r>
              <a:rPr lang="pt-BR" sz="1250" b="0" i="0" dirty="0">
                <a:solidFill>
                  <a:srgbClr val="222222"/>
                </a:solidFill>
                <a:latin typeface="Calibri"/>
                <a:cs typeface="Calibri"/>
              </a:rPr>
              <a:t>ProductItem, SerializedProduct e Vehicle Inventory Search (licenciado)</a:t>
            </a:r>
          </a:p>
        </p:txBody>
      </p:sp>
      <p:sp>
        <p:nvSpPr>
          <p:cNvPr id="29" name="s29"/>
          <p:cNvSpPr/>
          <p:nvPr/>
        </p:nvSpPr>
        <p:spPr>
          <a:xfrm>
            <a:off x="4754880" y="3867911"/>
            <a:ext cx="219456" cy="219456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30"/>
          <p:cNvSpPr/>
          <p:nvPr/>
        </p:nvSpPr>
        <p:spPr>
          <a:xfrm>
            <a:off x="8503919" y="3977639"/>
            <a:ext cx="3675887" cy="212140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82880" tIns="182880" rIns="182880" bIns="18288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550" b="1" i="0" dirty="0">
                <a:solidFill>
                  <a:srgbClr val="1F3864"/>
                </a:solidFill>
                <a:latin typeface="Calibri"/>
                <a:cs typeface="Calibri"/>
              </a:rPr>
              <a:t>Zero objetos custom</a:t>
            </a:r>
          </a:p>
          <a:p>
            <a:pPr algn="l">
              <a:buNone/>
            </a:pPr>
            <a:r>
              <a:rPr lang="pt-BR" sz="1250" b="0" i="0" dirty="0">
                <a:solidFill>
                  <a:srgbClr val="222222"/>
                </a:solidFill>
                <a:latin typeface="Calibri"/>
                <a:cs typeface="Calibri"/>
              </a:rPr>
              <a:t>Nenhum objeto novo no fluxo de vendas — resolvido com Record Types e campos</a:t>
            </a:r>
          </a:p>
        </p:txBody>
      </p:sp>
      <p:sp>
        <p:nvSpPr>
          <p:cNvPr id="31" name="s31"/>
          <p:cNvSpPr/>
          <p:nvPr/>
        </p:nvSpPr>
        <p:spPr>
          <a:xfrm>
            <a:off x="8686799" y="3867911"/>
            <a:ext cx="219456" cy="219456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32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2700" b="1" i="0" dirty="0">
                <a:solidFill>
                  <a:srgbClr val="1F3864"/>
                </a:solidFill>
                <a:latin typeface="Calibri"/>
                <a:cs typeface="Calibri"/>
              </a:rPr>
              <a:t>Regras de negócio: 100% no BRE</a:t>
            </a:r>
          </a:p>
        </p:txBody>
      </p:sp>
      <p:sp>
        <p:nvSpPr>
          <p:cNvPr id="33" name="s33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1300" b="0" i="0" dirty="0">
                <a:solidFill>
                  <a:srgbClr val="6B7280"/>
                </a:solidFill>
                <a:latin typeface="Calibri"/>
                <a:cs typeface="Calibri"/>
              </a:rPr>
              <a:t>Decision Matrices e Expression Sets — nenhuma regra em Apex</a:t>
            </a:r>
          </a:p>
        </p:txBody>
      </p:sp>
      <p:sp>
        <p:nvSpPr>
          <p:cNvPr id="34" name="s34"/>
          <p:cNvSpPr/>
          <p:nvPr/>
        </p:nvSpPr>
        <p:spPr>
          <a:xfrm>
            <a:off x="640080" y="1737360"/>
            <a:ext cx="4206240" cy="356616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228600" tIns="228600" rIns="228600" bIns="228600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pt-BR" sz="6400" b="1" i="0" dirty="0">
                <a:solidFill>
                  <a:srgbClr val="FFFFFF"/>
                </a:solidFill>
                <a:latin typeface="Calibri"/>
                <a:cs typeface="Calibri"/>
              </a:rPr>
              <a:t>27.131</a:t>
            </a:r>
          </a:p>
          <a:p>
            <a:pPr algn="ctr">
              <a:spcAft>
                <a:spcPts val="200"/>
              </a:spcAft>
              <a:buNone/>
            </a:pPr>
            <a:r>
              <a:rPr lang="pt-BR" sz="1500" b="0" i="0" dirty="0">
                <a:solidFill>
                  <a:srgbClr val="CADCFC"/>
                </a:solidFill>
                <a:latin typeface="Calibri"/>
                <a:cs typeface="Calibri"/>
              </a:rPr>
              <a:t>assentos de BRE Designer e Runtime</a:t>
            </a:r>
          </a:p>
          <a:p>
            <a:pPr algn="ctr">
              <a:buNone/>
            </a:pPr>
            <a:r>
              <a:rPr lang="pt-BR" sz="1250" b="0" i="1" dirty="0">
                <a:solidFill>
                  <a:srgbClr val="CADCFC"/>
                </a:solidFill>
                <a:latin typeface="Calibri"/>
                <a:cs typeface="Calibri"/>
              </a:rPr>
              <a:t>licenciados — auditado na org em 22/07</a:t>
            </a:r>
          </a:p>
        </p:txBody>
      </p:sp>
      <p:sp>
        <p:nvSpPr>
          <p:cNvPr id="35" name="s35"/>
          <p:cNvSpPr/>
          <p:nvPr/>
        </p:nvSpPr>
        <p:spPr>
          <a:xfrm>
            <a:off x="5257800" y="1783080"/>
            <a:ext cx="626364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 marL="228600" indent="-228600">
              <a:spcAft>
                <a:spcPts val="12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50" b="0" i="0" dirty="0">
                <a:solidFill>
                  <a:srgbClr val="222222"/>
                </a:solidFill>
                <a:latin typeface="Calibri"/>
                <a:cs typeface="Calibri"/>
              </a:rPr>
              <a:t>Preço, imposto e exoneração de referência em Decision Matrices — a lógica do QRM migra para cá</a:t>
            </a:r>
          </a:p>
          <a:p>
            <a:pPr algn="l" marL="228600" indent="-228600">
              <a:spcAft>
                <a:spcPts val="12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50" b="0" i="0" dirty="0">
                <a:solidFill>
                  <a:srgbClr val="222222"/>
                </a:solidFill>
                <a:latin typeface="Calibri"/>
                <a:cs typeface="Calibri"/>
              </a:rPr>
              <a:t>Mantidas pelas equipes fiscal e comercial, sem deploy — responde à pergunta de governança: quem mantém no futuro</a:t>
            </a:r>
          </a:p>
          <a:p>
            <a:pPr algn="l" marL="228600" indent="-228600">
              <a:spcAft>
                <a:spcPts val="12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50" b="0" i="0" dirty="0">
                <a:solidFill>
                  <a:srgbClr val="222222"/>
                </a:solidFill>
                <a:latin typeface="Calibri"/>
                <a:cs typeface="Calibri"/>
              </a:rPr>
              <a:t>Nesta frente não há cálculo recursivo nem amortização — por isso nenhum Apex de cálculo (diferente do Financial)</a:t>
            </a:r>
          </a:p>
          <a:p>
            <a:pPr algn="l" marL="228600" indent="-228600">
              <a:spcAft>
                <a:spcPts val="12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50" b="0" i="0" dirty="0">
                <a:solidFill>
                  <a:srgbClr val="222222"/>
                </a:solidFill>
                <a:latin typeface="Calibri"/>
                <a:cs typeface="Calibri"/>
              </a:rPr>
              <a:t>SAP segue como autoridade fiscal: calcula o imposto definitivo e fatura; Salesforce exibe a referência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36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2700" b="1" i="0" dirty="0">
                <a:solidFill>
                  <a:srgbClr val="1F3864"/>
                </a:solidFill>
                <a:latin typeface="Calibri"/>
                <a:cs typeface="Calibri"/>
              </a:rPr>
              <a:t>Onde entra Apex e LWC: duas camadas estreitas</a:t>
            </a:r>
          </a:p>
        </p:txBody>
      </p:sp>
      <p:sp>
        <p:nvSpPr>
          <p:cNvPr id="37" name="s37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1300" b="0" i="0" dirty="0">
                <a:solidFill>
                  <a:srgbClr val="6B7280"/>
                </a:solidFill>
                <a:latin typeface="Calibri"/>
                <a:cs typeface="Calibri"/>
              </a:rPr>
              <a:t>Nada de lógica de negócio — somente experiência e integração</a:t>
            </a:r>
          </a:p>
        </p:txBody>
      </p:sp>
      <p:sp>
        <p:nvSpPr>
          <p:cNvPr id="38" name="s38"/>
          <p:cNvSpPr/>
          <p:nvPr/>
        </p:nvSpPr>
        <p:spPr>
          <a:xfrm>
            <a:off x="640080" y="1645920"/>
            <a:ext cx="5394960" cy="310896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t-BR" sz="1650" b="1" i="0" dirty="0">
                <a:solidFill>
                  <a:srgbClr val="1F3864"/>
                </a:solidFill>
                <a:latin typeface="Calibri"/>
                <a:cs typeface="Calibri"/>
              </a:rPr>
              <a:t>Experiência do usuário — LWC</a:t>
            </a:r>
          </a:p>
          <a:p>
            <a:pPr algn="l" marL="228600" indent="-228600">
              <a:spcAft>
                <a:spcPts val="6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350" b="0" i="0" dirty="0">
                <a:solidFill>
                  <a:srgbClr val="222222"/>
                </a:solidFill>
                <a:latin typeface="Calibri"/>
                <a:cs typeface="Calibri"/>
              </a:rPr>
              <a:t>Ações de tela na Oportunidade (venda guiada)</a:t>
            </a:r>
          </a:p>
          <a:p>
            <a:pPr algn="l" marL="228600" indent="-228600">
              <a:spcAft>
                <a:spcPts val="6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350" b="0" i="0" dirty="0">
                <a:solidFill>
                  <a:srgbClr val="222222"/>
                </a:solidFill>
                <a:latin typeface="Calibri"/>
                <a:cs typeface="Calibri"/>
              </a:rPr>
              <a:t>Router por linha de negócio + telas específicas por fluxo</a:t>
            </a:r>
          </a:p>
          <a:p>
            <a:pPr algn="l" marL="228600" indent="-228600">
              <a:spcAft>
                <a:spcPts val="6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350" b="0" i="0" dirty="0">
                <a:solidFill>
                  <a:srgbClr val="222222"/>
                </a:solidFill>
                <a:latin typeface="Calibri"/>
                <a:cs typeface="Calibri"/>
              </a:rPr>
              <a:t>Painéis dinâmicos e visibilidade por permissão (cantidades de inventário)</a:t>
            </a:r>
          </a:p>
          <a:p>
            <a:pPr algn="l" marL="228600" indent="-228600">
              <a:buClr>
                <a:srgbClr val="D22630"/>
              </a:buClr>
              <a:buFont typeface="Arial"/>
              <a:buChar char="•"/>
            </a:pPr>
            <a:r>
              <a:rPr lang="pt-BR" sz="1350" b="0" i="0" dirty="0">
                <a:solidFill>
                  <a:srgbClr val="222222"/>
                </a:solidFill>
                <a:latin typeface="Calibri"/>
                <a:cs typeface="Calibri"/>
              </a:rPr>
              <a:t>Pro-code nativo da plataforma Salesforce</a:t>
            </a:r>
          </a:p>
        </p:txBody>
      </p:sp>
      <p:sp>
        <p:nvSpPr>
          <p:cNvPr id="39" name="s39"/>
          <p:cNvSpPr/>
          <p:nvPr/>
        </p:nvSpPr>
        <p:spPr>
          <a:xfrm>
            <a:off x="6263640" y="1645920"/>
            <a:ext cx="5257800" cy="310896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t-BR" sz="1650" b="1" i="0" dirty="0">
                <a:solidFill>
                  <a:srgbClr val="1F3864"/>
                </a:solidFill>
                <a:latin typeface="Calibri"/>
                <a:cs typeface="Calibri"/>
              </a:rPr>
              <a:t>Integração — Continuation ou IP</a:t>
            </a:r>
          </a:p>
          <a:p>
            <a:pPr algn="l" marL="228600" indent="-228600">
              <a:spcAft>
                <a:spcPts val="6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350" b="0" i="0" dirty="0">
                <a:solidFill>
                  <a:srgbClr val="222222"/>
                </a:solidFill>
                <a:latin typeface="Calibri"/>
                <a:cs typeface="Calibri"/>
              </a:rPr>
              <a:t>O padrão do diagrama de referência do Felipe: consulta síncrona de preço e estoque</a:t>
            </a:r>
          </a:p>
          <a:p>
            <a:pPr algn="l" marL="228600" indent="-228600">
              <a:spcAft>
                <a:spcPts val="6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350" b="0" i="0" dirty="0">
                <a:solidFill>
                  <a:srgbClr val="222222"/>
                </a:solidFill>
                <a:latin typeface="Calibri"/>
                <a:cs typeface="Calibri"/>
              </a:rPr>
              <a:t>Endpoint único no MuleSoft: POST /api/v1/prices-and-inventory</a:t>
            </a:r>
          </a:p>
          <a:p>
            <a:pPr algn="l" marL="228600" indent="-228600">
              <a:spcAft>
                <a:spcPts val="6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350" b="0" i="0" dirty="0">
                <a:solidFill>
                  <a:srgbClr val="222222"/>
                </a:solidFill>
                <a:latin typeface="Calibri"/>
                <a:cs typeface="Calibri"/>
              </a:rPr>
              <a:t>Apex Continuation: sem bloqueio de thread, até 120 s, callouts em paralelo</a:t>
            </a:r>
          </a:p>
          <a:p>
            <a:pPr algn="l" marL="228600" indent="-228600">
              <a:buClr>
                <a:srgbClr val="D22630"/>
              </a:buClr>
              <a:buFont typeface="Arial"/>
              <a:buChar char="•"/>
            </a:pPr>
            <a:r>
              <a:rPr lang="pt-BR" sz="1350" b="0" i="0" dirty="0">
                <a:solidFill>
                  <a:srgbClr val="222222"/>
                </a:solidFill>
                <a:latin typeface="Calibri"/>
                <a:cs typeface="Calibri"/>
              </a:rPr>
              <a:t>Salesforce é consumidor — nunca a fonte de preço ou estoque em tempo real</a:t>
            </a:r>
          </a:p>
        </p:txBody>
      </p:sp>
      <p:sp>
        <p:nvSpPr>
          <p:cNvPr id="40" name="s40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</p:spPr>
        <p:txBody>
          <a:bodyPr wrap="square" lIns="137160" tIns="137160" rIns="137160" bIns="137160" anchor="ctr">
            <a:normAutofit/>
          </a:bodyPr>
          <a:lstStyle/>
          <a:p>
            <a:pPr algn="ctr">
              <a:buNone/>
            </a:pPr>
            <a:r>
              <a:rPr lang="pt-BR" sz="1400" b="1" i="0" dirty="0">
                <a:solidFill>
                  <a:srgbClr val="1F3864"/>
                </a:solidFill>
                <a:latin typeface="Calibri"/>
                <a:cs typeface="Calibri"/>
              </a:rPr>
              <a:t>Abertos a Integration Procedure na camada de integração — mesmo endpoint, mesmo contrato, zero impacto no modelo e nas regras.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41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2700" b="1" i="0" dirty="0">
                <a:solidFill>
                  <a:srgbClr val="1F3864"/>
                </a:solidFill>
                <a:latin typeface="Calibri"/>
                <a:cs typeface="Calibri"/>
              </a:rPr>
              <a:t>Por que LWC nesta interface: fatos, não preferência</a:t>
            </a:r>
          </a:p>
        </p:txBody>
      </p:sp>
      <p:sp>
        <p:nvSpPr>
          <p:cNvPr id="42" name="s42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1300" b="0" i="0" dirty="0">
                <a:solidFill>
                  <a:srgbClr val="6B7280"/>
                </a:solidFill>
                <a:latin typeface="Calibri"/>
                <a:cs typeface="Calibri"/>
              </a:rPr>
              <a:t>Avaliamos OmniScript como orquestrador — os pontos abaixo definiram a proposta</a:t>
            </a:r>
          </a:p>
        </p:txBody>
      </p:sp>
      <p:sp>
        <p:nvSpPr>
          <p:cNvPr id="43" name="s43"/>
          <p:cNvSpPr/>
          <p:nvPr/>
        </p:nvSpPr>
        <p:spPr>
          <a:xfrm>
            <a:off x="731520" y="1911095"/>
            <a:ext cx="475488" cy="47548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pt-BR" sz="1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44" name="s44"/>
          <p:cNvSpPr/>
          <p:nvPr/>
        </p:nvSpPr>
        <p:spPr>
          <a:xfrm>
            <a:off x="1417320" y="1783080"/>
            <a:ext cx="10104120" cy="9692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buNone/>
            </a:pPr>
            <a:r>
              <a:rPr lang="pt-BR" sz="1400" b="0" i="0" dirty="0">
                <a:solidFill>
                  <a:srgbClr val="222222"/>
                </a:solidFill>
                <a:latin typeface="Calibri"/>
                <a:cs typeface="Calibri"/>
              </a:rPr>
              <a:t>Limite documentado de um nível de aninhamento de OmniScript reutilizável — a estrutura pai + filhos por linha de negócio excede esse teto</a:t>
            </a:r>
          </a:p>
        </p:txBody>
      </p:sp>
      <p:sp>
        <p:nvSpPr>
          <p:cNvPr id="45" name="s45"/>
          <p:cNvSpPr/>
          <p:nvPr/>
        </p:nvSpPr>
        <p:spPr>
          <a:xfrm>
            <a:off x="731520" y="3081528"/>
            <a:ext cx="475488" cy="47548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pt-BR" sz="1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6" name="s46"/>
          <p:cNvSpPr/>
          <p:nvPr/>
        </p:nvSpPr>
        <p:spPr>
          <a:xfrm>
            <a:off x="1417320" y="2953512"/>
            <a:ext cx="10104120" cy="9692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buNone/>
            </a:pPr>
            <a:r>
              <a:rPr lang="pt-BR" sz="1400" b="0" i="0" dirty="0">
                <a:solidFill>
                  <a:srgbClr val="222222"/>
                </a:solidFill>
                <a:latin typeface="Calibri"/>
                <a:cs typeface="Calibri"/>
              </a:rPr>
              <a:t>Experiência multi-fluxo altamente dinâmica: cinco linhas de negócio, painéis condicionais e visibilidade por permissão</a:t>
            </a:r>
          </a:p>
        </p:txBody>
      </p:sp>
      <p:sp>
        <p:nvSpPr>
          <p:cNvPr id="47" name="s47"/>
          <p:cNvSpPr/>
          <p:nvPr/>
        </p:nvSpPr>
        <p:spPr>
          <a:xfrm>
            <a:off x="731520" y="4251959"/>
            <a:ext cx="475488" cy="47548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pt-BR" sz="1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8" name="s48"/>
          <p:cNvSpPr/>
          <p:nvPr/>
        </p:nvSpPr>
        <p:spPr>
          <a:xfrm>
            <a:off x="1417320" y="4123944"/>
            <a:ext cx="10104120" cy="9692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buNone/>
            </a:pPr>
            <a:r>
              <a:rPr lang="pt-BR" sz="1400" b="0" i="0" dirty="0">
                <a:solidFill>
                  <a:srgbClr val="222222"/>
                </a:solidFill>
                <a:latin typeface="Calibri"/>
                <a:cs typeface="Calibri"/>
              </a:rPr>
              <a:t>Ciclo de vida maduro: SFDX, controle de versão, testes unitários e CI/CD — exigência do projeto para código crítico</a:t>
            </a:r>
          </a:p>
        </p:txBody>
      </p:sp>
      <p:sp>
        <p:nvSpPr>
          <p:cNvPr id="49" name="s49"/>
          <p:cNvSpPr/>
          <p:nvPr/>
        </p:nvSpPr>
        <p:spPr>
          <a:xfrm>
            <a:off x="731520" y="5422392"/>
            <a:ext cx="475488" cy="47548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pt-BR" sz="16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50" name="s50"/>
          <p:cNvSpPr/>
          <p:nvPr/>
        </p:nvSpPr>
        <p:spPr>
          <a:xfrm>
            <a:off x="1417320" y="5294376"/>
            <a:ext cx="10104120" cy="9692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buNone/>
            </a:pPr>
            <a:r>
              <a:rPr lang="pt-BR" sz="1400" b="0" i="0" dirty="0">
                <a:solidFill>
                  <a:srgbClr val="222222"/>
                </a:solidFill>
                <a:latin typeface="Calibri"/>
                <a:cs typeface="Calibri"/>
              </a:rPr>
              <a:t>O OmniStudio permanece no stack (27 mil assentos): Integration Procedures candidatas na integração; FlexCards e OmniScripts em fluxos simples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51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2700" b="1" i="0" dirty="0">
                <a:solidFill>
                  <a:srgbClr val="1F3864"/>
                </a:solidFill>
                <a:latin typeface="Calibri"/>
                <a:cs typeface="Calibri"/>
              </a:rPr>
              <a:t>Governança de limites: medida na org, não estimada</a:t>
            </a:r>
          </a:p>
        </p:txBody>
      </p:sp>
      <p:sp>
        <p:nvSpPr>
          <p:cNvPr id="52" name="s52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1300" b="0" i="0" dirty="0">
                <a:solidFill>
                  <a:srgbClr val="6B7280"/>
                </a:solidFill>
                <a:latin typeface="Calibri"/>
                <a:cs typeface="Calibri"/>
              </a:rPr>
              <a:t>Enterprise Edition — números auditados em 22/07/2026</a:t>
            </a:r>
          </a:p>
        </p:txBody>
      </p:sp>
      <p:sp>
        <p:nvSpPr>
          <p:cNvPr id="53" name="s53"/>
          <p:cNvSpPr/>
          <p:nvPr/>
        </p:nvSpPr>
        <p:spPr>
          <a:xfrm>
            <a:off x="640080" y="1691640"/>
            <a:ext cx="3611880" cy="228600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64592" tIns="164592" rIns="164592" bIns="164592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pt-BR" sz="4400" b="1" i="0" dirty="0">
                <a:solidFill>
                  <a:srgbClr val="FFFFFF"/>
                </a:solidFill>
                <a:latin typeface="Calibri"/>
                <a:cs typeface="Calibri"/>
              </a:rPr>
              <a:t>1,4%</a:t>
            </a:r>
          </a:p>
          <a:p>
            <a:pPr algn="ctr">
              <a:spcAft>
                <a:spcPts val="400"/>
              </a:spcAft>
              <a:buNone/>
            </a:pPr>
            <a:r>
              <a:rPr lang="pt-BR" sz="1400" b="1" i="0" dirty="0">
                <a:solidFill>
                  <a:srgbClr val="CADCFC"/>
                </a:solidFill>
                <a:latin typeface="Calibri"/>
                <a:cs typeface="Calibri"/>
              </a:rPr>
              <a:t>uso real de Platform Events</a:t>
            </a:r>
          </a:p>
          <a:p>
            <a:pPr algn="ctr">
              <a:buNone/>
            </a:pPr>
            <a:r>
              <a:rPr lang="pt-BR" sz="1150" b="0" i="0" dirty="0">
                <a:solidFill>
                  <a:srgbClr val="CADCFC"/>
                </a:solidFill>
                <a:latin typeface="Calibri"/>
                <a:cs typeface="Calibri"/>
              </a:rPr>
              <a:t>pico de 345 entregas/dia frente à alocação de 25.000/dia</a:t>
            </a:r>
          </a:p>
        </p:txBody>
      </p:sp>
      <p:sp>
        <p:nvSpPr>
          <p:cNvPr id="54" name="s54"/>
          <p:cNvSpPr/>
          <p:nvPr/>
        </p:nvSpPr>
        <p:spPr>
          <a:xfrm>
            <a:off x="4434840" y="1691640"/>
            <a:ext cx="3611880" cy="228600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64592" tIns="164592" rIns="164592" bIns="164592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pt-BR" sz="4400" b="1" i="0" dirty="0">
                <a:solidFill>
                  <a:srgbClr val="FFFFFF"/>
                </a:solidFill>
                <a:latin typeface="Calibri"/>
                <a:cs typeface="Calibri"/>
              </a:rPr>
              <a:t>1+1</a:t>
            </a:r>
          </a:p>
          <a:p>
            <a:pPr algn="ctr">
              <a:spcAft>
                <a:spcPts val="400"/>
              </a:spcAft>
              <a:buNone/>
            </a:pPr>
            <a:r>
              <a:rPr lang="pt-BR" sz="1400" b="1" i="0" dirty="0">
                <a:solidFill>
                  <a:srgbClr val="CADCFC"/>
                </a:solidFill>
                <a:latin typeface="Calibri"/>
                <a:cs typeface="Calibri"/>
              </a:rPr>
              <a:t>assentos de Salesforce Pricing</a:t>
            </a:r>
          </a:p>
          <a:p>
            <a:pPr algn="ctr">
              <a:buNone/>
            </a:pPr>
            <a:r>
              <a:rPr lang="pt-BR" sz="1150" b="0" i="0" dirty="0">
                <a:solidFill>
                  <a:srgbClr val="CADCFC"/>
                </a:solidFill>
                <a:latin typeface="Calibri"/>
                <a:cs typeface="Calibri"/>
              </a:rPr>
              <a:t>licença token do bundle — deliberadamente NÃO usada como base</a:t>
            </a:r>
          </a:p>
        </p:txBody>
      </p:sp>
      <p:sp>
        <p:nvSpPr>
          <p:cNvPr id="55" name="s55"/>
          <p:cNvSpPr/>
          <p:nvPr/>
        </p:nvSpPr>
        <p:spPr>
          <a:xfrm>
            <a:off x="8229600" y="1691640"/>
            <a:ext cx="3611880" cy="228600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>
            <a:noFill/>
          </a:ln>
          <a:effectLst>
            <a:outerShdw blurRad="90000" dist="38100" dir="5400000" rotWithShape="0">
              <a:srgbClr val="1F3864">
                <a:alpha val="18000"/>
              </a:srgbClr>
            </a:outerShdw>
          </a:effectLst>
        </p:spPr>
        <p:txBody>
          <a:bodyPr wrap="square" lIns="164592" tIns="164592" rIns="164592" bIns="164592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pt-BR" sz="4400" b="1" i="0" dirty="0">
                <a:solidFill>
                  <a:srgbClr val="FFFFFF"/>
                </a:solidFill>
                <a:latin typeface="Calibri"/>
                <a:cs typeface="Calibri"/>
              </a:rPr>
              <a:t>27.131</a:t>
            </a:r>
          </a:p>
          <a:p>
            <a:pPr algn="ctr">
              <a:spcAft>
                <a:spcPts val="400"/>
              </a:spcAft>
              <a:buNone/>
            </a:pPr>
            <a:r>
              <a:rPr lang="pt-BR" sz="1400" b="1" i="0" dirty="0">
                <a:solidFill>
                  <a:srgbClr val="CADCFC"/>
                </a:solidFill>
                <a:latin typeface="Calibri"/>
                <a:cs typeface="Calibri"/>
              </a:rPr>
              <a:t>assentos de BRE</a:t>
            </a:r>
          </a:p>
          <a:p>
            <a:pPr algn="ctr">
              <a:buNone/>
            </a:pPr>
            <a:r>
              <a:rPr lang="pt-BR" sz="1150" b="0" i="0" dirty="0">
                <a:solidFill>
                  <a:srgbClr val="CADCFC"/>
                </a:solidFill>
                <a:latin typeface="Calibri"/>
                <a:cs typeface="Calibri"/>
              </a:rPr>
              <a:t>o motor de regras que o cliente comprou é o que usamos</a:t>
            </a:r>
          </a:p>
        </p:txBody>
      </p:sp>
      <p:sp>
        <p:nvSpPr>
          <p:cNvPr id="56" name="s56"/>
          <p:cNvSpPr/>
          <p:nvPr/>
        </p:nvSpPr>
        <p:spPr>
          <a:xfrm>
            <a:off x="640080" y="4343400"/>
            <a:ext cx="1088136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 marL="228600" indent="-228600">
              <a:spcAft>
                <a:spcPts val="9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00" b="0" i="0" dirty="0">
                <a:solidFill>
                  <a:srgbClr val="222222"/>
                </a:solidFill>
                <a:latin typeface="Calibri"/>
                <a:cs typeface="Calibri"/>
              </a:rPr>
              <a:t>Assinatura de eventos com escopo de sessão (assina ao enviar, desassina ao fechar) + filtros de canal por usuário</a:t>
            </a:r>
          </a:p>
          <a:p>
            <a:pPr algn="l" marL="228600" indent="-228600">
              <a:spcAft>
                <a:spcPts val="9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00" b="0" i="0" dirty="0">
                <a:solidFill>
                  <a:srgbClr val="222222"/>
                </a:solidFill>
                <a:latin typeface="Calibri"/>
                <a:cs typeface="Calibri"/>
              </a:rPr>
              <a:t>Retorno tardio da fatura sem Platform Event: atualização de registro + Custom Notification</a:t>
            </a:r>
          </a:p>
          <a:p>
            <a:pPr algn="l" marL="228600" indent="-228600">
              <a:spcAft>
                <a:spcPts val="900"/>
              </a:spcAft>
              <a:buClr>
                <a:srgbClr val="D22630"/>
              </a:buClr>
              <a:buFont typeface="Arial"/>
              <a:buChar char="•"/>
            </a:pPr>
            <a:r>
              <a:rPr lang="pt-BR" sz="1400" b="0" i="0" dirty="0">
                <a:solidFill>
                  <a:srgbClr val="222222"/>
                </a:solidFill>
                <a:latin typeface="Calibri"/>
                <a:cs typeface="Calibri"/>
              </a:rPr>
              <a:t>Monitoramento contínuo com PlatformEventUsageMetric desde o piloto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5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s58"/>
          <p:cNvSpPr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3000" b="1" i="0" dirty="0">
                <a:solidFill>
                  <a:srgbClr val="FFFFFF"/>
                </a:solidFill>
                <a:latin typeface="Calibri"/>
                <a:cs typeface="Calibri"/>
              </a:rPr>
              <a:t>O que pedimos ao Time de Produto</a:t>
            </a:r>
          </a:p>
        </p:txBody>
      </p:sp>
      <p:sp>
        <p:nvSpPr>
          <p:cNvPr id="59" name="s59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pt-BR" sz="1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60" name="s60"/>
          <p:cNvSpPr/>
          <p:nvPr/>
        </p:nvSpPr>
        <p:spPr>
          <a:xfrm>
            <a:off x="1600200" y="1828800"/>
            <a:ext cx="9784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800" b="1" i="0" dirty="0">
                <a:solidFill>
                  <a:srgbClr val="FFFFFF"/>
                </a:solidFill>
                <a:latin typeface="Calibri"/>
                <a:cs typeface="Calibri"/>
              </a:rPr>
              <a:t>Confirmar o enfoque híbrido</a:t>
            </a:r>
          </a:p>
          <a:p>
            <a:pPr algn="l">
              <a:buNone/>
            </a:pPr>
            <a:r>
              <a:rPr lang="pt-BR" sz="1350" b="0" i="0" dirty="0">
                <a:solidFill>
                  <a:srgbClr val="CADCFC"/>
                </a:solidFill>
                <a:latin typeface="Calibri"/>
                <a:cs typeface="Calibri"/>
              </a:rPr>
              <a:t>modelo e cotização nativos + regras no BRE + Apex/LWC restritos a experiência e integração</a:t>
            </a:r>
          </a:p>
        </p:txBody>
      </p:sp>
      <p:sp>
        <p:nvSpPr>
          <p:cNvPr id="61" name="s61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pt-BR" sz="1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62" name="s62"/>
          <p:cNvSpPr/>
          <p:nvPr/>
        </p:nvSpPr>
        <p:spPr>
          <a:xfrm>
            <a:off x="1600200" y="3200400"/>
            <a:ext cx="9784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800" b="1" i="0" dirty="0">
                <a:solidFill>
                  <a:srgbClr val="FFFFFF"/>
                </a:solidFill>
                <a:latin typeface="Calibri"/>
                <a:cs typeface="Calibri"/>
              </a:rPr>
              <a:t>Definir a camada de integração</a:t>
            </a:r>
          </a:p>
          <a:p>
            <a:pPr algn="l">
              <a:buNone/>
            </a:pPr>
            <a:r>
              <a:rPr lang="pt-BR" sz="1350" b="0" i="0" dirty="0">
                <a:solidFill>
                  <a:srgbClr val="CADCFC"/>
                </a:solidFill>
                <a:latin typeface="Calibri"/>
                <a:cs typeface="Calibri"/>
              </a:rPr>
              <a:t>Apex Continuation ou Integration Procedure — adotamos a preferência do Produto sem impacto em contratos, modelo ou regras</a:t>
            </a:r>
          </a:p>
        </p:txBody>
      </p:sp>
      <p:sp>
        <p:nvSpPr>
          <p:cNvPr id="63" name="s63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D2263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pt-BR" sz="1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64" name="s64"/>
          <p:cNvSpPr/>
          <p:nvPr/>
        </p:nvSpPr>
        <p:spPr>
          <a:xfrm>
            <a:off x="1600200" y="4572000"/>
            <a:ext cx="9784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800" b="1" i="0" dirty="0">
                <a:solidFill>
                  <a:srgbClr val="FFFFFF"/>
                </a:solidFill>
                <a:latin typeface="Calibri"/>
                <a:cs typeface="Calibri"/>
              </a:rPr>
              <a:t>Agenda esta semana</a:t>
            </a:r>
          </a:p>
          <a:p>
            <a:pPr algn="l">
              <a:buNone/>
            </a:pPr>
            <a:r>
              <a:rPr lang="pt-BR" sz="1350" b="0" i="0" dirty="0">
                <a:solidFill>
                  <a:srgbClr val="CADCFC"/>
                </a:solidFill>
                <a:latin typeface="Calibri"/>
                <a:cs typeface="Calibri"/>
              </a:rPr>
              <a:t>o sprint em curso depende desta definição; o trabalho nativo segue em paralelo, as telas aguardam</a:t>
            </a:r>
          </a:p>
        </p:txBody>
      </p:sp>
      <p:sp>
        <p:nvSpPr>
          <p:cNvPr id="65" name="s65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pt-BR" sz="1100" b="0" i="0" dirty="0">
                <a:solidFill>
                  <a:srgbClr val="CADCFC"/>
                </a:solidFill>
                <a:latin typeface="Calibri"/>
                <a:cs typeface="Calibri"/>
              </a:rPr>
              <a:t>OSF Digital — Frente de Vendas GrupoQ  ·  Diego Beltrão — Arquitetura de Ventas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Q">
  <a:themeElements>
    <a:clrScheme name="GQ">
      <a:dk1>
        <a:srgbClr val="222222"/>
      </a:dk1>
      <a:lt1>
        <a:srgbClr val="FFFFFF"/>
      </a:lt1>
      <a:dk2>
        <a:srgbClr val="1F3864"/>
      </a:dk2>
      <a:lt2>
        <a:srgbClr val="DDEBF7"/>
      </a:lt2>
      <a:accent1>
        <a:srgbClr val="1F3864"/>
      </a:accent1>
      <a:accent2>
        <a:srgbClr val="D22630"/>
      </a:accent2>
      <a:accent3>
        <a:srgbClr val="CADCFC"/>
      </a:accent3>
      <a:accent4>
        <a:srgbClr val="6B7280"/>
      </a:accent4>
      <a:accent5>
        <a:srgbClr val="70AD47"/>
      </a:accent5>
      <a:accent6>
        <a:srgbClr val="BF8F00"/>
      </a:accent6>
      <a:hlink>
        <a:srgbClr val="1F3864"/>
      </a:hlink>
      <a:folHlink>
        <a:srgbClr val="6B7280"/>
      </a:folHlink>
    </a:clrScheme>
    <a:fontScheme name="GQ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GQ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Arquitetura da Frente de Vendas - GrupoQ</dc:title>
  <dc:creator>OSF Digital</dc:creator>
  <cp:lastModifiedBy>OSF Digital</cp:lastModifiedBy>
</cp:coreProperties>
</file>