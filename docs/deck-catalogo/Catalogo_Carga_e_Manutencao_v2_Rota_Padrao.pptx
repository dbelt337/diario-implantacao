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  <p:sldId id="264" r:id="rIdS9"/>
    <p:sldId id="265" r:id="rIdS10"/>
    <p:sldId id="266" r:id="rIdS11"/>
    <p:sldId id="267" r:id="rIdS12"/>
    <p:sldId id="268" r:id="rIdS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24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Relationship Id="rIdS9" Type="http://schemas.openxmlformats.org/officeDocument/2006/relationships/slide" Target="slides/slide9.xml"/><Relationship Id="rIdS10" Type="http://schemas.openxmlformats.org/officeDocument/2006/relationships/slide" Target="slides/slide10.xml"/><Relationship Id="rIdS11" Type="http://schemas.openxmlformats.org/officeDocument/2006/relationships/slide" Target="slides/slide11.xml"/><Relationship Id="rIdS12" Type="http://schemas.openxmlformats.org/officeDocument/2006/relationships/slide" Target="slides/slide12.xml"/><Relationship Id="rIdS13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"/>
          <p:cNvSpPr txBox="1"/>
          <p:nvPr/>
        </p:nvSpPr>
        <p:spPr>
          <a:xfrm>
            <a:off x="640080" y="1371600"/>
            <a:ext cx="7863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3400" b="1" i="0" dirty="0">
                <a:solidFill>
                  <a:srgbClr val="FFFFFF"/>
                </a:solidFill>
                <a:latin typeface="Calibri"/>
                <a:cs typeface="Calibri"/>
              </a:rPr>
              <a:t>Catálogo comercial no SFA:</a:t>
            </a:r>
          </a:p>
          <a:p>
            <a:pPr algn="l">
              <a:spcAft>
                <a:spcPts val="0"/>
              </a:spcAft>
              <a:buNone/>
            </a:pPr>
            <a:r>
              <a:rPr lang="pt-BR" sz="3400" b="1" i="0" dirty="0">
                <a:solidFill>
                  <a:srgbClr val="FFFFFF"/>
                </a:solidFill>
                <a:latin typeface="Calibri"/>
                <a:cs typeface="Calibri"/>
              </a:rPr>
              <a:t>carga inicial e manutenção</a:t>
            </a:r>
          </a:p>
        </p:txBody>
      </p:sp>
      <p:sp>
        <p:nvSpPr>
          <p:cNvPr id="3" name="S"/>
          <p:cNvSpPr txBox="1"/>
          <p:nvPr/>
        </p:nvSpPr>
        <p:spPr>
          <a:xfrm>
            <a:off x="640080" y="2880360"/>
            <a:ext cx="78638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800" b="0" i="0" dirty="0">
                <a:solidFill>
                  <a:srgbClr val="D9E2F3"/>
                </a:solidFill>
                <a:latin typeface="Calibri"/>
                <a:cs typeface="Calibri"/>
              </a:rPr>
              <a:t>Template como levantamento, cadastro pela interface padrão do EPC, Agentforce como apoio às pessoas</a:t>
            </a:r>
          </a:p>
        </p:txBody>
      </p:sp>
      <p:sp>
        <p:nvSpPr>
          <p:cNvPr id="4" name="S2"/>
          <p:cNvSpPr txBox="1"/>
          <p:nvPr/>
        </p:nvSpPr>
        <p:spPr>
          <a:xfrm>
            <a:off x="640080" y="3886200"/>
            <a:ext cx="7863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500" b="0" i="0" dirty="0">
                <a:solidFill>
                  <a:srgbClr val="D9E2F3"/>
                </a:solidFill>
                <a:latin typeface="Calibri"/>
                <a:cs typeface="Calibri"/>
              </a:rPr>
              <a:t>Proposta revisada para decisão da presidência</a:t>
            </a:r>
          </a:p>
        </p:txBody>
      </p:sp>
      <p:sp>
        <p:nvSpPr>
          <p:cNvPr id="5" name="F"/>
          <p:cNvSpPr txBox="1"/>
          <p:nvPr/>
        </p:nvSpPr>
        <p:spPr>
          <a:xfrm>
            <a:off x="640080" y="566928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200" b="0" i="0" dirty="0">
                <a:solidFill>
                  <a:srgbClr val="D9E2F3"/>
                </a:solidFill>
                <a:latin typeface="Calibri"/>
                <a:cs typeface="Calibri"/>
              </a:rPr>
              <a:t>Brasil TecPar | SysMap | Catálogo EPC (Vlocity) | setembro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Resumo para decisão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É possível carregar e manter o catálogo sem desenvolvimento custom</a:t>
            </a:r>
          </a:p>
        </p:txBody>
      </p:sp>
      <p:sp>
        <p:nvSpPr>
          <p:cNvPr id="3" name="Card"/>
          <p:cNvSpPr/>
          <p:nvPr/>
        </p:nvSpPr>
        <p:spPr>
          <a:xfrm>
            <a:off x="457200" y="1188720"/>
            <a:ext cx="265176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A4E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1B7A4E"/>
                </a:solidFill>
                <a:latin typeface="Calibri"/>
                <a:cs typeface="Calibri"/>
              </a:rPr>
              <a:t>O que a documentação confirma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200" b="0" i="0" dirty="0">
                <a:solidFill>
                  <a:srgbClr val="444444"/>
                </a:solidFill>
                <a:latin typeface="Calibri"/>
                <a:cs typeface="Calibri"/>
              </a:rPr>
              <a:t>A interface padrão (Product Designer) cria produto, estrutura, atributos, preço, promoção e regras com as dependências validadas.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200" b="0" i="0" dirty="0">
                <a:solidFill>
                  <a:srgbClr val="444444"/>
                </a:solidFill>
                <a:latin typeface="Calibri"/>
                <a:cs typeface="Calibri"/>
              </a:rPr>
              <a:t>A migração sandbox para produção é feita por DataPacks e IDX Workbench, ferramentas oficiais.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200" b="0" i="0" dirty="0">
                <a:solidFill>
                  <a:srgbClr val="444444"/>
                </a:solidFill>
                <a:latin typeface="Calibri"/>
                <a:cs typeface="Calibri"/>
              </a:rPr>
              <a:t>Os jobs pós-carga têm ordem definida e podem ser disparados por API.</a:t>
            </a:r>
          </a:p>
        </p:txBody>
      </p:sp>
      <p:sp>
        <p:nvSpPr>
          <p:cNvPr id="4" name="Card"/>
          <p:cNvSpPr/>
          <p:nvPr/>
        </p:nvSpPr>
        <p:spPr>
          <a:xfrm>
            <a:off x="3246120" y="1188720"/>
            <a:ext cx="265176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6262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A62626"/>
                </a:solidFill>
                <a:latin typeface="Calibri"/>
                <a:cs typeface="Calibri"/>
              </a:rPr>
              <a:t>O risco do wizard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200" b="0" i="0" dirty="0">
                <a:solidFill>
                  <a:srgbClr val="444444"/>
                </a:solidFill>
                <a:latin typeface="Calibri"/>
                <a:cs typeface="Calibri"/>
              </a:rPr>
              <a:t>Um conversor sobre o template é código custom: reimplementa validações que a interface já faz.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200" b="0" i="0" dirty="0">
                <a:solidFill>
                  <a:srgbClr val="444444"/>
                </a:solidFill>
                <a:latin typeface="Calibri"/>
                <a:cs typeface="Calibri"/>
              </a:rPr>
              <a:t>Erro de dependência (tipo, atributo, cardinalidade, preço) só aparece no carrinho.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200" b="0" i="0" dirty="0">
                <a:solidFill>
                  <a:srgbClr val="444444"/>
                </a:solidFill>
                <a:latin typeface="Calibri"/>
                <a:cs typeface="Calibri"/>
              </a:rPr>
              <a:t>Precisa de manutenção a cada release do pacote e fica fora do suporte Salesforce.</a:t>
            </a:r>
          </a:p>
        </p:txBody>
      </p:sp>
      <p:sp>
        <p:nvSpPr>
          <p:cNvPr id="5" name="Card"/>
          <p:cNvSpPr/>
          <p:nvPr/>
        </p:nvSpPr>
        <p:spPr>
          <a:xfrm>
            <a:off x="6035040" y="1188720"/>
            <a:ext cx="2651760" cy="4206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1F3864"/>
                </a:solidFill>
                <a:latin typeface="Calibri"/>
                <a:cs typeface="Calibri"/>
              </a:rPr>
              <a:t>Decisões pedidas hoje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200" b="1" i="0" dirty="0">
                <a:solidFill>
                  <a:srgbClr val="444444"/>
                </a:solidFill>
                <a:latin typeface="Calibri"/>
                <a:cs typeface="Calibri"/>
              </a:rPr>
              <a:t>1. </a:t>
            </a:r>
            <a:r>
              <a:rPr lang="pt-BR" sz="1200" b="0" i="0" dirty="0">
                <a:solidFill>
                  <a:srgbClr val="444444"/>
                </a:solidFill>
                <a:latin typeface="Calibri"/>
                <a:cs typeface="Calibri"/>
              </a:rPr>
              <a:t>Carga pela interface padrão, em ondas, com o template como planilha de levantamento.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200" b="1" i="0" dirty="0">
                <a:solidFill>
                  <a:srgbClr val="444444"/>
                </a:solidFill>
                <a:latin typeface="Calibri"/>
                <a:cs typeface="Calibri"/>
              </a:rPr>
              <a:t>2. </a:t>
            </a:r>
            <a:r>
              <a:rPr lang="pt-BR" sz="1200" b="0" i="0" dirty="0">
                <a:solidFill>
                  <a:srgbClr val="444444"/>
                </a:solidFill>
                <a:latin typeface="Calibri"/>
                <a:cs typeface="Calibri"/>
              </a:rPr>
              <a:t>Wizard suspenso; retomar só se o volume justificar, sobre as APIs oficiais.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200" b="1" i="0" dirty="0">
                <a:solidFill>
                  <a:srgbClr val="444444"/>
                </a:solidFill>
                <a:latin typeface="Calibri"/>
                <a:cs typeface="Calibri"/>
              </a:rPr>
              <a:t>3. </a:t>
            </a:r>
            <a:r>
              <a:rPr lang="pt-BR" sz="1200" b="0" i="0" dirty="0">
                <a:solidFill>
                  <a:srgbClr val="444444"/>
                </a:solidFill>
                <a:latin typeface="Calibri"/>
                <a:cs typeface="Calibri"/>
              </a:rPr>
              <a:t>Nomear o dono do catálogo e o substituto.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200" b="1" i="0" dirty="0">
                <a:solidFill>
                  <a:srgbClr val="444444"/>
                </a:solidFill>
                <a:latin typeface="Calibri"/>
                <a:cs typeface="Calibri"/>
              </a:rPr>
              <a:t>4. </a:t>
            </a:r>
            <a:r>
              <a:rPr lang="pt-BR" sz="1200" b="0" i="0" dirty="0">
                <a:solidFill>
                  <a:srgbClr val="444444"/>
                </a:solidFill>
                <a:latin typeface="Calibri"/>
                <a:cs typeface="Calibri"/>
              </a:rPr>
              <a:t>Agentforce como assistente, fase 2, após avaliar licença.</a:t>
            </a:r>
          </a:p>
        </p:txBody>
      </p:sp>
      <p:sp>
        <p:nvSpPr>
          <p:cNvPr id="6" name="Pill"/>
          <p:cNvSpPr/>
          <p:nvPr/>
        </p:nvSpPr>
        <p:spPr>
          <a:xfrm>
            <a:off x="457200" y="5623560"/>
            <a:ext cx="8229600" cy="54864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200" b="1" i="0" dirty="0">
                <a:solidFill>
                  <a:srgbClr val="FFFFFF"/>
                </a:solidFill>
                <a:latin typeface="Calibri"/>
                <a:cs typeface="Calibri"/>
              </a:rPr>
              <a:t>Recomendação: rota padrão para a carga; manual de configuração e papéis nomeados para a manutenção; agente como apoio, nunca como autor.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O que a documentação oficial diz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Salesforce Help, Developer Docs e anúncio oficial, conferidos em 16/09</a:t>
            </a:r>
          </a:p>
        </p:txBody>
      </p:sp>
      <p:sp>
        <p:nvSpPr>
          <p:cNvPr id="3" name="Card"/>
          <p:cNvSpPr/>
          <p:nvPr/>
        </p:nvSpPr>
        <p:spPr>
          <a:xfrm>
            <a:off x="457200" y="1143000"/>
            <a:ext cx="402336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2E75B6"/>
                </a:solidFill>
                <a:latin typeface="Calibri"/>
                <a:cs typeface="Calibri"/>
              </a:rPr>
              <a:t>Product Designer (interface padrão do EPC)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Help: aplicação de administração do catálogo, para negócio e TI. Sequência oficial: tipos de objeto e atributos, especificação, oferta, pacote com cardinalidade, preço e promoção.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Projetos do EPC registram toda mudança (Add, Change, Delete) no projeto padrão; versionamento e ciclo de vida (atual, futuro, passado, aposentado) são nativos.</a:t>
            </a:r>
          </a:p>
        </p:txBody>
      </p:sp>
      <p:sp>
        <p:nvSpPr>
          <p:cNvPr id="4" name="Card"/>
          <p:cNvSpPr/>
          <p:nvPr/>
        </p:nvSpPr>
        <p:spPr>
          <a:xfrm>
            <a:off x="4663440" y="1143000"/>
            <a:ext cx="402336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2E75B6"/>
                </a:solidFill>
                <a:latin typeface="Calibri"/>
                <a:cs typeface="Calibri"/>
              </a:rPr>
              <a:t>DataPacks, IDX Workbench e Vlocity Build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Help do EPC: para mover de desenvolvimento para produção, usa-se Vlocity DataPacks e o IDX Workbench.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O IDX Workbench migra exatamente as mudanças de um Projeto do EPC em status Released; produtos não migram entre orgs por CSV.</a:t>
            </a:r>
          </a:p>
        </p:txBody>
      </p:sp>
      <p:sp>
        <p:nvSpPr>
          <p:cNvPr id="5" name="Card"/>
          <p:cNvSpPr/>
          <p:nvPr/>
        </p:nvSpPr>
        <p:spPr>
          <a:xfrm>
            <a:off x="457200" y="3429000"/>
            <a:ext cx="402336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2E75B6"/>
                </a:solidFill>
                <a:latin typeface="Calibri"/>
                <a:cs typeface="Calibri"/>
              </a:rPr>
              <a:t>EPC REST APIs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CRUD oficial só de Product2, versão, filho, picklist e promoção. Não cobrem preço nem atributo: um carregador teria de gravar isso por fora, sem validação.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Se algum dia um carregador for justificado, é sobre estas APIs, não gravando registros direto.</a:t>
            </a:r>
          </a:p>
        </p:txBody>
      </p:sp>
      <p:sp>
        <p:nvSpPr>
          <p:cNvPr id="6" name="Card"/>
          <p:cNvSpPr/>
          <p:nvPr/>
        </p:nvSpPr>
        <p:spPr>
          <a:xfrm>
            <a:off x="4663440" y="3429000"/>
            <a:ext cx="402336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2E75B6"/>
                </a:solidFill>
                <a:latin typeface="Calibri"/>
                <a:cs typeface="Calibri"/>
              </a:rPr>
              <a:t>Jobs pós-carga e Agentforce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Jobs de manutenção (Help): Product Hierarchy Maintenance antes do Refresh Platform Cache; Full na carga, Incremental na manutenção; Clear Managed Platform Cache limpa a partição do CPQ. Nunca em produção ao vivo.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Agentforce pronto no pacote CME: ações e flows para o carrinho (cotação, pedido, navegar produtos, atributos, promoções). Agentforce for Communications: 5 agentes de venda e serviço. Nenhum cria catálogo.</a:t>
            </a:r>
          </a:p>
        </p:txBody>
      </p:sp>
      <p:sp>
        <p:nvSpPr>
          <p:cNvPr id="7" name="Pill"/>
          <p:cNvSpPr/>
          <p:nvPr/>
        </p:nvSpPr>
        <p:spPr>
          <a:xfrm>
            <a:off x="457200" y="5715000"/>
            <a:ext cx="8229600" cy="502920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050.0" b="1" i="0" dirty="0">
                <a:solidFill>
                  <a:srgbClr val="FFFFFF"/>
                </a:solidFill>
                <a:latin typeface="Calibri"/>
                <a:cs typeface="Calibri"/>
              </a:rPr>
              <a:t>Atenção: a importação por CSV com templates DPE é do Revenue Cloud (Product Catalog Management), não do EPC do Communications Cloud.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Opção 1: template com conversor (wizard)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A equipe preenche a planilha e um código custom cria produto, estrutura, catálogo e preço</a:t>
            </a:r>
          </a:p>
        </p:txBody>
      </p:sp>
      <p:sp>
        <p:nvSpPr>
          <p:cNvPr id="3" name="Pill"/>
          <p:cNvSpPr/>
          <p:nvPr/>
        </p:nvSpPr>
        <p:spPr>
          <a:xfrm>
            <a:off x="457200" y="1097280"/>
            <a:ext cx="822960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Desenvolvimento custom: 2 a 3 semanas + testes  ·  Carga: 1 a 2 semanas após o conversor  ·  Manutenção do código a cada release</a:t>
            </a:r>
          </a:p>
        </p:txBody>
      </p:sp>
      <p:sp>
        <p:nvSpPr>
          <p:cNvPr id="4" name="Card"/>
          <p:cNvSpPr/>
          <p:nvPr/>
        </p:nvSpPr>
        <p:spPr>
          <a:xfrm>
            <a:off x="457200" y="1783080"/>
            <a:ext cx="4023360" cy="3749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A4E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1B7A4E"/>
                </a:solidFill>
                <a:latin typeface="Calibri"/>
                <a:cs typeface="Calibri"/>
              </a:rPr>
              <a:t>Prós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Escala para dezenas de variações da mesma oferta.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Padroniza código, cardinalidade, preço e catálogo.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Arquivo aprovado antes de publicar: evidência de cada carga.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Existe precedente na comunidade (EPC on Steroids), o que mostra que é viável.</a:t>
            </a:r>
          </a:p>
        </p:txBody>
      </p:sp>
      <p:sp>
        <p:nvSpPr>
          <p:cNvPr id="5" name="Card"/>
          <p:cNvSpPr/>
          <p:nvPr/>
        </p:nvSpPr>
        <p:spPr>
          <a:xfrm>
            <a:off x="4663440" y="1783080"/>
            <a:ext cx="4023360" cy="3749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6262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A62626"/>
                </a:solidFill>
                <a:latin typeface="Calibri"/>
                <a:cs typeface="Calibri"/>
              </a:rPr>
              <a:t>Contras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Reimplementa validações que o Product Designer já faz; as APIs oficiais nem cobrem preço e atributo, então o wizard gravaria isso direto na base.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Fora do suporte Salesforce; quebra silenciosa a cada atualização do pacote.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Não cria tipo de objeto, atributo ou regra nova: o especialista continua necessário.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Exige congelar a modelagem durante o desenvolvimento e manter template e código sincronizados.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O precedente da comunidade é um projeto pessoal, sem garantia.</a:t>
            </a:r>
          </a:p>
        </p:txBody>
      </p:sp>
      <p:sp>
        <p:nvSpPr>
          <p:cNvPr id="6" name="Pill"/>
          <p:cNvSpPr/>
          <p:nvPr/>
        </p:nvSpPr>
        <p:spPr>
          <a:xfrm>
            <a:off x="457200" y="5669280"/>
            <a:ext cx="8229600" cy="502920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Situação em 16/09: template entregue e validado; wizard em construção pela SysMap. Proposta: suspender o wizard.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Opção 2: interface padrão com migração por DataPacks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O analista cadastra em sandbox, valida no carrinho e publica em produção com ferramenta oficial</a:t>
            </a:r>
          </a:p>
        </p:txBody>
      </p:sp>
      <p:sp>
        <p:nvSpPr>
          <p:cNvPr id="3" name="Pill"/>
          <p:cNvSpPr/>
          <p:nvPr/>
        </p:nvSpPr>
        <p:spPr>
          <a:xfrm>
            <a:off x="457200" y="1097280"/>
            <a:ext cx="822960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Desenvolvimento: nenhum  ·  Onda 1 (11 ofertas): 1 a 2 semanas  ·  Manutenção por oferta: horas, com procedimento do manual</a:t>
            </a:r>
          </a:p>
        </p:txBody>
      </p:sp>
      <p:sp>
        <p:nvSpPr>
          <p:cNvPr id="4" name="Card"/>
          <p:cNvSpPr/>
          <p:nvPr/>
        </p:nvSpPr>
        <p:spPr>
          <a:xfrm>
            <a:off x="457200" y="1783080"/>
            <a:ext cx="4023360" cy="3749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A4E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1B7A4E"/>
                </a:solidFill>
                <a:latin typeface="Calibri"/>
                <a:cs typeface="Calibri"/>
              </a:rPr>
              <a:t>Prós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Dependências validadas ao salvar: tipo de objeto, atributos herdados, cardinalidade, lista de preço.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Suportado pela Salesforce e alinhado às releases; sem código para manter.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DataPack exportado é a evidência e o versionamento da carga (pode ir para o Git).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Histórico nativo de alteração; correção pontual sem recarregar nada.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O template continua útil: vira a planilha de levantamento e o roteiro de cadastro.</a:t>
            </a:r>
          </a:p>
        </p:txBody>
      </p:sp>
      <p:sp>
        <p:nvSpPr>
          <p:cNvPr id="5" name="Card"/>
          <p:cNvSpPr/>
          <p:nvPr/>
        </p:nvSpPr>
        <p:spPr>
          <a:xfrm>
            <a:off x="4663440" y="1783080"/>
            <a:ext cx="4023360" cy="3749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6262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A62626"/>
                </a:solidFill>
                <a:latin typeface="Calibri"/>
                <a:cs typeface="Calibri"/>
              </a:rPr>
              <a:t>Contras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Tempo de analista treinado; não escala para centenas de ofertas de uma vez.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Consistência depende do procedimento escrito, não da ferramenta.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Jobs pós-carga precisam estar no checklist (ou disparados por API).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Exige treinamento formal de duas pessoas no Product Designer.</a:t>
            </a:r>
          </a:p>
        </p:txBody>
      </p:sp>
      <p:sp>
        <p:nvSpPr>
          <p:cNvPr id="6" name="Pill"/>
          <p:cNvSpPr/>
          <p:nvPr/>
        </p:nvSpPr>
        <p:spPr>
          <a:xfrm>
            <a:off x="457200" y="5669280"/>
            <a:ext cx="8229600" cy="50292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Responde ao ponto do presidente: o problema são pessoas e manutenção; a resposta é procedimento, papéis e ferramenta padrão.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Opção 3: híbrido com Agentforce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É possível, mas hoje é desenvolvimento custom com licença; cabe como assistente, não como autor</a:t>
            </a:r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265176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2E75B6"/>
                </a:solidFill>
                <a:latin typeface="Calibri"/>
                <a:cs typeface="Calibri"/>
              </a:rPr>
              <a:t>O que existe pronto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Ações e flows prontos no pacote CME para operações de carrinho: criar cotação e pedido, navegar produtos, configurar atributos, aplicar promoções, sem Apex custom. Tudo consome o catálogo; nada o cria.</a:t>
            </a:r>
          </a:p>
        </p:txBody>
      </p:sp>
      <p:sp>
        <p:nvSpPr>
          <p:cNvPr id="4" name="Card"/>
          <p:cNvSpPr/>
          <p:nvPr/>
        </p:nvSpPr>
        <p:spPr>
          <a:xfrm>
            <a:off x="3246120" y="1097280"/>
            <a:ext cx="265176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2E75B6"/>
                </a:solidFill>
                <a:latin typeface="Calibri"/>
                <a:cs typeface="Calibri"/>
              </a:rPr>
              <a:t>O que teria de ser construído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Ações em Flow ou Apex sobre as EPC REST APIs (que não cobrem preço nem atributo), prompt templates, testes e guardrails. Volta a ser código custom.</a:t>
            </a:r>
          </a:p>
        </p:txBody>
      </p:sp>
      <p:sp>
        <p:nvSpPr>
          <p:cNvPr id="5" name="Card"/>
          <p:cNvSpPr/>
          <p:nvPr/>
        </p:nvSpPr>
        <p:spPr>
          <a:xfrm>
            <a:off x="6035040" y="1097280"/>
            <a:ext cx="2651760" cy="2331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2E75B6"/>
                </a:solidFill>
                <a:latin typeface="Calibri"/>
                <a:cs typeface="Calibri"/>
              </a:rPr>
              <a:t>Onde cabe bem</a:t>
            </a:r>
          </a:p>
          <a:p>
            <a:pPr algn="l">
              <a:spcAft>
                <a:spcPts val="500"/>
              </a:spcAft>
              <a:buNone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Explicar o manual, montar o checklist do evento, conferir a planilha de levantamento contra a org e validar o pós-carga. Sem publicar nada.</a:t>
            </a:r>
          </a:p>
        </p:txBody>
      </p:sp>
      <p:sp>
        <p:nvSpPr>
          <p:cNvPr id="6" name="Card"/>
          <p:cNvSpPr/>
          <p:nvPr/>
        </p:nvSpPr>
        <p:spPr>
          <a:xfrm>
            <a:off x="457200" y="3611880"/>
            <a:ext cx="40233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A4E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1B7A4E"/>
                </a:solidFill>
                <a:latin typeface="Calibri"/>
                <a:cs typeface="Calibri"/>
              </a:rPr>
              <a:t>Prós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O ganho real e pronto é na venda: vendedor monta cotação e pedido pelo agente, sem Apex custom.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Como assistente da manutenção, padroniza o cadastro ao seguir o manual.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Publicação continua humana, em sandbox e com homologação.</a:t>
            </a:r>
          </a:p>
        </p:txBody>
      </p:sp>
      <p:sp>
        <p:nvSpPr>
          <p:cNvPr id="7" name="Card"/>
          <p:cNvSpPr/>
          <p:nvPr/>
        </p:nvSpPr>
        <p:spPr>
          <a:xfrm>
            <a:off x="4663440" y="3611880"/>
            <a:ext cx="402336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A6262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A62626"/>
                </a:solidFill>
                <a:latin typeface="Calibri"/>
                <a:cs typeface="Calibri"/>
              </a:rPr>
              <a:t>Contras e condições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Licença e consumo do Agentforce a avaliar com a Salesforce.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Ações custom para escrever no catálogo: mesmo risco do wizard, mais a variabilidade do agente.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100" b="0" i="0" dirty="0">
                <a:solidFill>
                  <a:srgbClr val="444444"/>
                </a:solidFill>
                <a:latin typeface="Calibri"/>
                <a:cs typeface="Calibri"/>
              </a:rPr>
              <a:t>Só faz sentido depois do manual e de uma onda executada.</a:t>
            </a:r>
          </a:p>
        </p:txBody>
      </p:sp>
      <p:sp>
        <p:nvSpPr>
          <p:cNvPr id="8" name="Pill"/>
          <p:cNvSpPr/>
          <p:nvPr/>
        </p:nvSpPr>
        <p:spPr>
          <a:xfrm>
            <a:off x="457200" y="5760720"/>
            <a:ext cx="8229600" cy="4572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Sequência: carga pela rota padrão e manual primeiro; fase 2 com Agentforce onde está pronto (carrinho) e como assistente do manual, se a licença compensar.</a:t>
            </a:r>
          </a:p>
        </p:txBody>
      </p:sp>
      <p:sp>
        <p:nvSpPr>
          <p:cNvPr id="9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Comparativo das três opções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Mesmos critérios, lado a lado</a:t>
            </a:r>
          </a:p>
        </p:txBody>
      </p:sp>
      <p:sp>
        <p:nvSpPr>
          <p:cNvPr id="3" name="Th"/>
          <p:cNvSpPr/>
          <p:nvPr/>
        </p:nvSpPr>
        <p:spPr>
          <a:xfrm>
            <a:off x="457200" y="1143000"/>
            <a:ext cx="201168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Critério</a:t>
            </a:r>
          </a:p>
        </p:txBody>
      </p:sp>
      <p:sp>
        <p:nvSpPr>
          <p:cNvPr id="4" name="Th"/>
          <p:cNvSpPr/>
          <p:nvPr/>
        </p:nvSpPr>
        <p:spPr>
          <a:xfrm>
            <a:off x="2514600" y="1143000"/>
            <a:ext cx="20574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Template + wizard</a:t>
            </a:r>
          </a:p>
        </p:txBody>
      </p:sp>
      <p:sp>
        <p:nvSpPr>
          <p:cNvPr id="5" name="Th"/>
          <p:cNvSpPr/>
          <p:nvPr/>
        </p:nvSpPr>
        <p:spPr>
          <a:xfrm>
            <a:off x="4617720" y="1143000"/>
            <a:ext cx="205740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Interface padrão + DataPacks</a:t>
            </a:r>
          </a:p>
        </p:txBody>
      </p:sp>
      <p:sp>
        <p:nvSpPr>
          <p:cNvPr id="6" name="Th"/>
          <p:cNvSpPr/>
          <p:nvPr/>
        </p:nvSpPr>
        <p:spPr>
          <a:xfrm>
            <a:off x="6720840" y="1143000"/>
            <a:ext cx="1965960" cy="4572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Híbrido + Agentforce</a:t>
            </a:r>
          </a:p>
        </p:txBody>
      </p:sp>
      <p:sp>
        <p:nvSpPr>
          <p:cNvPr id="7" name="Td"/>
          <p:cNvSpPr/>
          <p:nvPr/>
        </p:nvSpPr>
        <p:spPr>
          <a:xfrm>
            <a:off x="457200" y="1627632"/>
            <a:ext cx="20116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1F3864"/>
                </a:solidFill>
                <a:latin typeface="Calibri"/>
                <a:cs typeface="Calibri"/>
              </a:rPr>
              <a:t>Código custom</a:t>
            </a:r>
          </a:p>
        </p:txBody>
      </p:sp>
      <p:sp>
        <p:nvSpPr>
          <p:cNvPr id="8" name="Td"/>
          <p:cNvSpPr/>
          <p:nvPr/>
        </p:nvSpPr>
        <p:spPr>
          <a:xfrm>
            <a:off x="2514600" y="1627632"/>
            <a:ext cx="2057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Sim: conversor e validações</a:t>
            </a:r>
          </a:p>
        </p:txBody>
      </p:sp>
      <p:sp>
        <p:nvSpPr>
          <p:cNvPr id="9" name="Td"/>
          <p:cNvSpPr/>
          <p:nvPr/>
        </p:nvSpPr>
        <p:spPr>
          <a:xfrm>
            <a:off x="4617720" y="1627632"/>
            <a:ext cx="2057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Nenhum</a:t>
            </a:r>
          </a:p>
        </p:txBody>
      </p:sp>
      <p:sp>
        <p:nvSpPr>
          <p:cNvPr id="10" name="Td"/>
          <p:cNvSpPr/>
          <p:nvPr/>
        </p:nvSpPr>
        <p:spPr>
          <a:xfrm>
            <a:off x="6720840" y="1627632"/>
            <a:ext cx="19659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Sim: ações sobre as APIs</a:t>
            </a:r>
          </a:p>
        </p:txBody>
      </p:sp>
      <p:sp>
        <p:nvSpPr>
          <p:cNvPr id="11" name="Td"/>
          <p:cNvSpPr/>
          <p:nvPr/>
        </p:nvSpPr>
        <p:spPr>
          <a:xfrm>
            <a:off x="457200" y="2167128"/>
            <a:ext cx="201168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1F3864"/>
                </a:solidFill>
                <a:latin typeface="Calibri"/>
                <a:cs typeface="Calibri"/>
              </a:rPr>
              <a:t>Suporte Salesforce</a:t>
            </a:r>
          </a:p>
        </p:txBody>
      </p:sp>
      <p:sp>
        <p:nvSpPr>
          <p:cNvPr id="12" name="Td"/>
          <p:cNvSpPr/>
          <p:nvPr/>
        </p:nvSpPr>
        <p:spPr>
          <a:xfrm>
            <a:off x="2514600" y="2167128"/>
            <a:ext cx="205740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Fora do suporte</a:t>
            </a:r>
          </a:p>
        </p:txBody>
      </p:sp>
      <p:sp>
        <p:nvSpPr>
          <p:cNvPr id="13" name="Td"/>
          <p:cNvSpPr/>
          <p:nvPr/>
        </p:nvSpPr>
        <p:spPr>
          <a:xfrm>
            <a:off x="4617720" y="2167128"/>
            <a:ext cx="205740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Suportado</a:t>
            </a:r>
          </a:p>
        </p:txBody>
      </p:sp>
      <p:sp>
        <p:nvSpPr>
          <p:cNvPr id="14" name="Td"/>
          <p:cNvSpPr/>
          <p:nvPr/>
        </p:nvSpPr>
        <p:spPr>
          <a:xfrm>
            <a:off x="6720840" y="2167128"/>
            <a:ext cx="196596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Plataforma suportada; ações não</a:t>
            </a:r>
          </a:p>
        </p:txBody>
      </p:sp>
      <p:sp>
        <p:nvSpPr>
          <p:cNvPr id="15" name="Td"/>
          <p:cNvSpPr/>
          <p:nvPr/>
        </p:nvSpPr>
        <p:spPr>
          <a:xfrm>
            <a:off x="457200" y="2706624"/>
            <a:ext cx="20116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1F3864"/>
                </a:solidFill>
                <a:latin typeface="Calibri"/>
                <a:cs typeface="Calibri"/>
              </a:rPr>
              <a:t>Onda 1 (11 ofertas)</a:t>
            </a:r>
          </a:p>
        </p:txBody>
      </p:sp>
      <p:sp>
        <p:nvSpPr>
          <p:cNvPr id="16" name="Td"/>
          <p:cNvSpPr/>
          <p:nvPr/>
        </p:nvSpPr>
        <p:spPr>
          <a:xfrm>
            <a:off x="2514600" y="2706624"/>
            <a:ext cx="2057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3 a 5 semanas (dev + carga)</a:t>
            </a:r>
          </a:p>
        </p:txBody>
      </p:sp>
      <p:sp>
        <p:nvSpPr>
          <p:cNvPr id="17" name="Td"/>
          <p:cNvSpPr/>
          <p:nvPr/>
        </p:nvSpPr>
        <p:spPr>
          <a:xfrm>
            <a:off x="4617720" y="2706624"/>
            <a:ext cx="2057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1 a 2 semanas</a:t>
            </a:r>
          </a:p>
        </p:txBody>
      </p:sp>
      <p:sp>
        <p:nvSpPr>
          <p:cNvPr id="18" name="Td"/>
          <p:cNvSpPr/>
          <p:nvPr/>
        </p:nvSpPr>
        <p:spPr>
          <a:xfrm>
            <a:off x="6720840" y="2706624"/>
            <a:ext cx="19659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1 a 2 semanas (mesma rota)</a:t>
            </a:r>
          </a:p>
        </p:txBody>
      </p:sp>
      <p:sp>
        <p:nvSpPr>
          <p:cNvPr id="19" name="Td"/>
          <p:cNvSpPr/>
          <p:nvPr/>
        </p:nvSpPr>
        <p:spPr>
          <a:xfrm>
            <a:off x="457200" y="3246120"/>
            <a:ext cx="201168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1F3864"/>
                </a:solidFill>
                <a:latin typeface="Calibri"/>
                <a:cs typeface="Calibri"/>
              </a:rPr>
              <a:t>Manutenção por oferta</a:t>
            </a:r>
          </a:p>
        </p:txBody>
      </p:sp>
      <p:sp>
        <p:nvSpPr>
          <p:cNvPr id="20" name="Td"/>
          <p:cNvSpPr/>
          <p:nvPr/>
        </p:nvSpPr>
        <p:spPr>
          <a:xfrm>
            <a:off x="2514600" y="3246120"/>
            <a:ext cx="205740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Horas, se o código estiver ok</a:t>
            </a:r>
          </a:p>
        </p:txBody>
      </p:sp>
      <p:sp>
        <p:nvSpPr>
          <p:cNvPr id="21" name="Td"/>
          <p:cNvSpPr/>
          <p:nvPr/>
        </p:nvSpPr>
        <p:spPr>
          <a:xfrm>
            <a:off x="4617720" y="3246120"/>
            <a:ext cx="205740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Horas, por procedimento</a:t>
            </a:r>
          </a:p>
        </p:txBody>
      </p:sp>
      <p:sp>
        <p:nvSpPr>
          <p:cNvPr id="22" name="Td"/>
          <p:cNvSpPr/>
          <p:nvPr/>
        </p:nvSpPr>
        <p:spPr>
          <a:xfrm>
            <a:off x="6720840" y="3246120"/>
            <a:ext cx="196596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Horas, guiada pelo agente</a:t>
            </a:r>
          </a:p>
        </p:txBody>
      </p:sp>
      <p:sp>
        <p:nvSpPr>
          <p:cNvPr id="23" name="Td"/>
          <p:cNvSpPr/>
          <p:nvPr/>
        </p:nvSpPr>
        <p:spPr>
          <a:xfrm>
            <a:off x="457200" y="3785616"/>
            <a:ext cx="20116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1F3864"/>
                </a:solidFill>
                <a:latin typeface="Calibri"/>
                <a:cs typeface="Calibri"/>
              </a:rPr>
              <a:t>Dependência de especialista</a:t>
            </a:r>
          </a:p>
        </p:txBody>
      </p:sp>
      <p:sp>
        <p:nvSpPr>
          <p:cNvPr id="24" name="Td"/>
          <p:cNvSpPr/>
          <p:nvPr/>
        </p:nvSpPr>
        <p:spPr>
          <a:xfrm>
            <a:off x="2514600" y="3785616"/>
            <a:ext cx="2057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Média: código e modelagem</a:t>
            </a:r>
          </a:p>
        </p:txBody>
      </p:sp>
      <p:sp>
        <p:nvSpPr>
          <p:cNvPr id="25" name="Td"/>
          <p:cNvSpPr/>
          <p:nvPr/>
        </p:nvSpPr>
        <p:spPr>
          <a:xfrm>
            <a:off x="4617720" y="3785616"/>
            <a:ext cx="2057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Média: treinamento</a:t>
            </a:r>
          </a:p>
        </p:txBody>
      </p:sp>
      <p:sp>
        <p:nvSpPr>
          <p:cNvPr id="26" name="Td"/>
          <p:cNvSpPr/>
          <p:nvPr/>
        </p:nvSpPr>
        <p:spPr>
          <a:xfrm>
            <a:off x="6720840" y="3785616"/>
            <a:ext cx="19659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Baixa na rotina</a:t>
            </a:r>
          </a:p>
        </p:txBody>
      </p:sp>
      <p:sp>
        <p:nvSpPr>
          <p:cNvPr id="27" name="Td"/>
          <p:cNvSpPr/>
          <p:nvPr/>
        </p:nvSpPr>
        <p:spPr>
          <a:xfrm>
            <a:off x="457200" y="4325112"/>
            <a:ext cx="201168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1F3864"/>
                </a:solidFill>
                <a:latin typeface="Calibri"/>
                <a:cs typeface="Calibri"/>
              </a:rPr>
              <a:t>Risco de erro de dependência</a:t>
            </a:r>
          </a:p>
        </p:txBody>
      </p:sp>
      <p:sp>
        <p:nvSpPr>
          <p:cNvPr id="28" name="Td"/>
          <p:cNvSpPr/>
          <p:nvPr/>
        </p:nvSpPr>
        <p:spPr>
          <a:xfrm>
            <a:off x="2514600" y="4325112"/>
            <a:ext cx="205740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Alto: aparece no carrinho</a:t>
            </a:r>
          </a:p>
        </p:txBody>
      </p:sp>
      <p:sp>
        <p:nvSpPr>
          <p:cNvPr id="29" name="Td"/>
          <p:cNvSpPr/>
          <p:nvPr/>
        </p:nvSpPr>
        <p:spPr>
          <a:xfrm>
            <a:off x="4617720" y="4325112"/>
            <a:ext cx="205740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Baixo: validado ao salvar</a:t>
            </a:r>
          </a:p>
        </p:txBody>
      </p:sp>
      <p:sp>
        <p:nvSpPr>
          <p:cNvPr id="30" name="Td"/>
          <p:cNvSpPr/>
          <p:nvPr/>
        </p:nvSpPr>
        <p:spPr>
          <a:xfrm>
            <a:off x="6720840" y="4325112"/>
            <a:ext cx="196596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Baixo, se não publicar</a:t>
            </a:r>
          </a:p>
        </p:txBody>
      </p:sp>
      <p:sp>
        <p:nvSpPr>
          <p:cNvPr id="31" name="Td"/>
          <p:cNvSpPr/>
          <p:nvPr/>
        </p:nvSpPr>
        <p:spPr>
          <a:xfrm>
            <a:off x="457200" y="4864608"/>
            <a:ext cx="20116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1F3864"/>
                </a:solidFill>
                <a:latin typeface="Calibri"/>
                <a:cs typeface="Calibri"/>
              </a:rPr>
              <a:t>Evidência e auditoria</a:t>
            </a:r>
          </a:p>
        </p:txBody>
      </p:sp>
      <p:sp>
        <p:nvSpPr>
          <p:cNvPr id="32" name="Td"/>
          <p:cNvSpPr/>
          <p:nvPr/>
        </p:nvSpPr>
        <p:spPr>
          <a:xfrm>
            <a:off x="2514600" y="4864608"/>
            <a:ext cx="2057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Arquivo por carga</a:t>
            </a:r>
          </a:p>
        </p:txBody>
      </p:sp>
      <p:sp>
        <p:nvSpPr>
          <p:cNvPr id="33" name="Td"/>
          <p:cNvSpPr/>
          <p:nvPr/>
        </p:nvSpPr>
        <p:spPr>
          <a:xfrm>
            <a:off x="4617720" y="4864608"/>
            <a:ext cx="205740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DataPack + histórico</a:t>
            </a:r>
          </a:p>
        </p:txBody>
      </p:sp>
      <p:sp>
        <p:nvSpPr>
          <p:cNvPr id="34" name="Td"/>
          <p:cNvSpPr/>
          <p:nvPr/>
        </p:nvSpPr>
        <p:spPr>
          <a:xfrm>
            <a:off x="6720840" y="4864608"/>
            <a:ext cx="19659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DataPack + registro do agente</a:t>
            </a:r>
          </a:p>
        </p:txBody>
      </p:sp>
      <p:sp>
        <p:nvSpPr>
          <p:cNvPr id="35" name="Td"/>
          <p:cNvSpPr/>
          <p:nvPr/>
        </p:nvSpPr>
        <p:spPr>
          <a:xfrm>
            <a:off x="457200" y="5404104"/>
            <a:ext cx="201168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1F3864"/>
                </a:solidFill>
                <a:latin typeface="Calibri"/>
                <a:cs typeface="Calibri"/>
              </a:rPr>
              <a:t>Custo adicional</a:t>
            </a:r>
          </a:p>
        </p:txBody>
      </p:sp>
      <p:sp>
        <p:nvSpPr>
          <p:cNvPr id="36" name="Td"/>
          <p:cNvSpPr/>
          <p:nvPr/>
        </p:nvSpPr>
        <p:spPr>
          <a:xfrm>
            <a:off x="2514600" y="5404104"/>
            <a:ext cx="205740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Desenvolvimento e manutenção</a:t>
            </a:r>
          </a:p>
        </p:txBody>
      </p:sp>
      <p:sp>
        <p:nvSpPr>
          <p:cNvPr id="37" name="Td"/>
          <p:cNvSpPr/>
          <p:nvPr/>
        </p:nvSpPr>
        <p:spPr>
          <a:xfrm>
            <a:off x="4617720" y="5404104"/>
            <a:ext cx="205740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Horas de analista</a:t>
            </a:r>
          </a:p>
        </p:txBody>
      </p:sp>
      <p:sp>
        <p:nvSpPr>
          <p:cNvPr id="38" name="Td"/>
          <p:cNvSpPr/>
          <p:nvPr/>
        </p:nvSpPr>
        <p:spPr>
          <a:xfrm>
            <a:off x="6720840" y="5404104"/>
            <a:ext cx="1965960" cy="512064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Licença Agentforce</a:t>
            </a:r>
          </a:p>
        </p:txBody>
      </p:sp>
      <p:sp>
        <p:nvSpPr>
          <p:cNvPr id="39" name="Pill"/>
          <p:cNvSpPr/>
          <p:nvPr/>
        </p:nvSpPr>
        <p:spPr>
          <a:xfrm>
            <a:off x="457200" y="5897880"/>
            <a:ext cx="8229600" cy="41148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FFFFFF"/>
                </a:solidFill>
                <a:latin typeface="Calibri"/>
                <a:cs typeface="Calibri"/>
              </a:rPr>
              <a:t>Prazos são estimativas de prática, a calibrar no piloto da Onda 1; a documentação não publica tempos.</a:t>
            </a:r>
          </a:p>
        </p:txBody>
      </p:sp>
      <p:sp>
        <p:nvSpPr>
          <p:cNvPr id="40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Quanto tempo leva pela interface padrão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Estimativa por unidade; o total do catálogo sai do inventário do Customer Core</a:t>
            </a:r>
          </a:p>
        </p:txBody>
      </p:sp>
      <p:sp>
        <p:nvSpPr>
          <p:cNvPr id="3" name="Th"/>
          <p:cNvSpPr/>
          <p:nvPr/>
        </p:nvSpPr>
        <p:spPr>
          <a:xfrm>
            <a:off x="457200" y="1143000"/>
            <a:ext cx="342900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Item</a:t>
            </a:r>
          </a:p>
        </p:txBody>
      </p:sp>
      <p:sp>
        <p:nvSpPr>
          <p:cNvPr id="4" name="Th"/>
          <p:cNvSpPr/>
          <p:nvPr/>
        </p:nvSpPr>
        <p:spPr>
          <a:xfrm>
            <a:off x="3931920" y="1143000"/>
            <a:ext cx="201168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Tempo por unidade</a:t>
            </a:r>
          </a:p>
        </p:txBody>
      </p:sp>
      <p:sp>
        <p:nvSpPr>
          <p:cNvPr id="5" name="Th"/>
          <p:cNvSpPr/>
          <p:nvPr/>
        </p:nvSpPr>
        <p:spPr>
          <a:xfrm>
            <a:off x="5989320" y="1143000"/>
            <a:ext cx="269748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Observação</a:t>
            </a:r>
          </a:p>
        </p:txBody>
      </p:sp>
      <p:sp>
        <p:nvSpPr>
          <p:cNvPr id="6" name="Td"/>
          <p:cNvSpPr/>
          <p:nvPr/>
        </p:nvSpPr>
        <p:spPr>
          <a:xfrm>
            <a:off x="457200" y="1581912"/>
            <a:ext cx="3429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1F3864"/>
                </a:solidFill>
                <a:latin typeface="Calibri"/>
                <a:cs typeface="Calibri"/>
              </a:rPr>
              <a:t>Base do EPC (tipos, atributos, listas de preço, regras)</a:t>
            </a:r>
          </a:p>
        </p:txBody>
      </p:sp>
      <p:sp>
        <p:nvSpPr>
          <p:cNvPr id="7" name="Td"/>
          <p:cNvSpPr/>
          <p:nvPr/>
        </p:nvSpPr>
        <p:spPr>
          <a:xfrm>
            <a:off x="3931920" y="1581912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444444"/>
                </a:solidFill>
                <a:latin typeface="Calibri"/>
                <a:cs typeface="Calibri"/>
              </a:rPr>
              <a:t>Pronta</a:t>
            </a:r>
          </a:p>
        </p:txBody>
      </p:sp>
      <p:sp>
        <p:nvSpPr>
          <p:cNvPr id="8" name="Td"/>
          <p:cNvSpPr/>
          <p:nvPr/>
        </p:nvSpPr>
        <p:spPr>
          <a:xfrm>
            <a:off x="5989320" y="1581912"/>
            <a:ext cx="2697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Já configurada; não entra na conta</a:t>
            </a:r>
          </a:p>
        </p:txBody>
      </p:sp>
      <p:sp>
        <p:nvSpPr>
          <p:cNvPr id="9" name="Td"/>
          <p:cNvSpPr/>
          <p:nvPr/>
        </p:nvSpPr>
        <p:spPr>
          <a:xfrm>
            <a:off x="457200" y="2066544"/>
            <a:ext cx="3429000" cy="4572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1F3864"/>
                </a:solidFill>
                <a:latin typeface="Calibri"/>
                <a:cs typeface="Calibri"/>
              </a:rPr>
              <a:t>Produto simples (sem filhos)</a:t>
            </a:r>
          </a:p>
        </p:txBody>
      </p:sp>
      <p:sp>
        <p:nvSpPr>
          <p:cNvPr id="10" name="Td"/>
          <p:cNvSpPr/>
          <p:nvPr/>
        </p:nvSpPr>
        <p:spPr>
          <a:xfrm>
            <a:off x="3931920" y="2066544"/>
            <a:ext cx="2011680" cy="4572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444444"/>
                </a:solidFill>
                <a:latin typeface="Calibri"/>
                <a:cs typeface="Calibri"/>
              </a:rPr>
              <a:t>20 a 40 min</a:t>
            </a:r>
          </a:p>
        </p:txBody>
      </p:sp>
      <p:sp>
        <p:nvSpPr>
          <p:cNvPr id="11" name="Td"/>
          <p:cNvSpPr/>
          <p:nvPr/>
        </p:nvSpPr>
        <p:spPr>
          <a:xfrm>
            <a:off x="5989320" y="2066544"/>
            <a:ext cx="2697480" cy="4572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Produto, atributos, preço, catálogo</a:t>
            </a:r>
          </a:p>
        </p:txBody>
      </p:sp>
      <p:sp>
        <p:nvSpPr>
          <p:cNvPr id="12" name="Td"/>
          <p:cNvSpPr/>
          <p:nvPr/>
        </p:nvSpPr>
        <p:spPr>
          <a:xfrm>
            <a:off x="457200" y="2551176"/>
            <a:ext cx="3429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1F3864"/>
                </a:solidFill>
                <a:latin typeface="Calibri"/>
                <a:cs typeface="Calibri"/>
              </a:rPr>
              <a:t>Pacote ou combo (3 a 6 componentes)</a:t>
            </a:r>
          </a:p>
        </p:txBody>
      </p:sp>
      <p:sp>
        <p:nvSpPr>
          <p:cNvPr id="13" name="Td"/>
          <p:cNvSpPr/>
          <p:nvPr/>
        </p:nvSpPr>
        <p:spPr>
          <a:xfrm>
            <a:off x="3931920" y="2551176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444444"/>
                </a:solidFill>
                <a:latin typeface="Calibri"/>
                <a:cs typeface="Calibri"/>
              </a:rPr>
              <a:t>2 a 4 h</a:t>
            </a:r>
          </a:p>
        </p:txBody>
      </p:sp>
      <p:sp>
        <p:nvSpPr>
          <p:cNvPr id="14" name="Td"/>
          <p:cNvSpPr/>
          <p:nvPr/>
        </p:nvSpPr>
        <p:spPr>
          <a:xfrm>
            <a:off x="5989320" y="2551176"/>
            <a:ext cx="2697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Estrutura, cardinalidade, preço por filho</a:t>
            </a:r>
          </a:p>
        </p:txBody>
      </p:sp>
      <p:sp>
        <p:nvSpPr>
          <p:cNvPr id="15" name="Td"/>
          <p:cNvSpPr/>
          <p:nvPr/>
        </p:nvSpPr>
        <p:spPr>
          <a:xfrm>
            <a:off x="457200" y="3035808"/>
            <a:ext cx="3429000" cy="4572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1F3864"/>
                </a:solidFill>
                <a:latin typeface="Calibri"/>
                <a:cs typeface="Calibri"/>
              </a:rPr>
              <a:t>Promoção</a:t>
            </a:r>
          </a:p>
        </p:txBody>
      </p:sp>
      <p:sp>
        <p:nvSpPr>
          <p:cNvPr id="16" name="Td"/>
          <p:cNvSpPr/>
          <p:nvPr/>
        </p:nvSpPr>
        <p:spPr>
          <a:xfrm>
            <a:off x="3931920" y="3035808"/>
            <a:ext cx="2011680" cy="4572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444444"/>
                </a:solidFill>
                <a:latin typeface="Calibri"/>
                <a:cs typeface="Calibri"/>
              </a:rPr>
              <a:t>1 a 2 h</a:t>
            </a:r>
          </a:p>
        </p:txBody>
      </p:sp>
      <p:sp>
        <p:nvSpPr>
          <p:cNvPr id="17" name="Td"/>
          <p:cNvSpPr/>
          <p:nvPr/>
        </p:nvSpPr>
        <p:spPr>
          <a:xfrm>
            <a:off x="5989320" y="3035808"/>
            <a:ext cx="2697480" cy="4572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Regra de elegibilidade e desconto</a:t>
            </a:r>
          </a:p>
        </p:txBody>
      </p:sp>
      <p:sp>
        <p:nvSpPr>
          <p:cNvPr id="18" name="Td"/>
          <p:cNvSpPr/>
          <p:nvPr/>
        </p:nvSpPr>
        <p:spPr>
          <a:xfrm>
            <a:off x="457200" y="3520440"/>
            <a:ext cx="3429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1F3864"/>
                </a:solidFill>
                <a:latin typeface="Calibri"/>
                <a:cs typeface="Calibri"/>
              </a:rPr>
              <a:t>Teste no carrinho por família</a:t>
            </a:r>
          </a:p>
        </p:txBody>
      </p:sp>
      <p:sp>
        <p:nvSpPr>
          <p:cNvPr id="19" name="Td"/>
          <p:cNvSpPr/>
          <p:nvPr/>
        </p:nvSpPr>
        <p:spPr>
          <a:xfrm>
            <a:off x="3931920" y="3520440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444444"/>
                </a:solidFill>
                <a:latin typeface="Calibri"/>
                <a:cs typeface="Calibri"/>
              </a:rPr>
              <a:t>Meio dia</a:t>
            </a:r>
          </a:p>
        </p:txBody>
      </p:sp>
      <p:sp>
        <p:nvSpPr>
          <p:cNvPr id="20" name="Td"/>
          <p:cNvSpPr/>
          <p:nvPr/>
        </p:nvSpPr>
        <p:spPr>
          <a:xfrm>
            <a:off x="5989320" y="3520440"/>
            <a:ext cx="2697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Cenários de venda e de erro</a:t>
            </a:r>
          </a:p>
        </p:txBody>
      </p:sp>
      <p:sp>
        <p:nvSpPr>
          <p:cNvPr id="21" name="Td"/>
          <p:cNvSpPr/>
          <p:nvPr/>
        </p:nvSpPr>
        <p:spPr>
          <a:xfrm>
            <a:off x="457200" y="4005072"/>
            <a:ext cx="3429000" cy="4572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1F3864"/>
                </a:solidFill>
                <a:latin typeface="Calibri"/>
                <a:cs typeface="Calibri"/>
              </a:rPr>
              <a:t>Migração por DataPack + jobs, por onda</a:t>
            </a:r>
          </a:p>
        </p:txBody>
      </p:sp>
      <p:sp>
        <p:nvSpPr>
          <p:cNvPr id="22" name="Td"/>
          <p:cNvSpPr/>
          <p:nvPr/>
        </p:nvSpPr>
        <p:spPr>
          <a:xfrm>
            <a:off x="3931920" y="4005072"/>
            <a:ext cx="2011680" cy="4572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444444"/>
                </a:solidFill>
                <a:latin typeface="Calibri"/>
                <a:cs typeface="Calibri"/>
              </a:rPr>
              <a:t>Meio dia</a:t>
            </a:r>
          </a:p>
        </p:txBody>
      </p:sp>
      <p:sp>
        <p:nvSpPr>
          <p:cNvPr id="23" name="Td"/>
          <p:cNvSpPr/>
          <p:nvPr/>
        </p:nvSpPr>
        <p:spPr>
          <a:xfrm>
            <a:off x="5989320" y="4005072"/>
            <a:ext cx="2697480" cy="457200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Sandbox para preprod e produção</a:t>
            </a:r>
          </a:p>
        </p:txBody>
      </p:sp>
      <p:sp>
        <p:nvSpPr>
          <p:cNvPr id="24" name="Td"/>
          <p:cNvSpPr/>
          <p:nvPr/>
        </p:nvSpPr>
        <p:spPr>
          <a:xfrm>
            <a:off x="457200" y="4489704"/>
            <a:ext cx="3429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1F3864"/>
                </a:solidFill>
                <a:latin typeface="Calibri"/>
                <a:cs typeface="Calibri"/>
              </a:rPr>
              <a:t>Onda 1: 11 ofertas e 16 componentes</a:t>
            </a:r>
          </a:p>
        </p:txBody>
      </p:sp>
      <p:sp>
        <p:nvSpPr>
          <p:cNvPr id="25" name="Td"/>
          <p:cNvSpPr/>
          <p:nvPr/>
        </p:nvSpPr>
        <p:spPr>
          <a:xfrm>
            <a:off x="3931920" y="4489704"/>
            <a:ext cx="20116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444444"/>
                </a:solidFill>
                <a:latin typeface="Calibri"/>
                <a:cs typeface="Calibri"/>
              </a:rPr>
              <a:t>5 a 8 dias úteis</a:t>
            </a:r>
          </a:p>
        </p:txBody>
      </p:sp>
      <p:sp>
        <p:nvSpPr>
          <p:cNvPr id="26" name="Td"/>
          <p:cNvSpPr/>
          <p:nvPr/>
        </p:nvSpPr>
        <p:spPr>
          <a:xfrm>
            <a:off x="5989320" y="4489704"/>
            <a:ext cx="26974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00" b="1" i="0" dirty="0">
                <a:solidFill>
                  <a:srgbClr val="444444"/>
                </a:solidFill>
                <a:latin typeface="Calibri"/>
                <a:cs typeface="Calibri"/>
              </a:rPr>
              <a:t>1 analista; 2 semanas com homologação</a:t>
            </a:r>
          </a:p>
        </p:txBody>
      </p:sp>
      <p:sp>
        <p:nvSpPr>
          <p:cNvPr id="27" name="Card"/>
          <p:cNvSpPr/>
          <p:nvPr/>
        </p:nvSpPr>
        <p:spPr>
          <a:xfrm>
            <a:off x="457200" y="5120640"/>
            <a:ext cx="8229600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A4E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1B7A4E"/>
                </a:solidFill>
                <a:latin typeface="Calibri"/>
                <a:cs typeface="Calibri"/>
              </a:rPr>
              <a:t>Como fechar o número do catálogo completo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Inventário no template: quantas ofertas simples, quantos pacotes, quantas promoções por família. Total = soma das unidades + 1 dia por família para teste e migração.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Hipótese: 60 ofertas (30 simples, 20 pacotes, 10 promoções) em 5 famílias = 4 a 6 semanas com 1 analista, 2 a 3 semanas com 2.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Antecipar a carga: execução em ondas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Começa na semana 1, sem esperar conversor; cada onda entrega algo utilizável</a:t>
            </a:r>
          </a:p>
        </p:txBody>
      </p:sp>
      <p:sp>
        <p:nvSpPr>
          <p:cNvPr id="3" name="Pill"/>
          <p:cNvSpPr/>
          <p:nvPr/>
        </p:nvSpPr>
        <p:spPr>
          <a:xfrm>
            <a:off x="457200" y="1143000"/>
            <a:ext cx="1965960" cy="45720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Onda 0  ·  Semana 1</a:t>
            </a:r>
          </a:p>
        </p:txBody>
      </p:sp>
      <p:sp>
        <p:nvSpPr>
          <p:cNvPr id="4" name="Card"/>
          <p:cNvSpPr/>
          <p:nvPr/>
        </p:nvSpPr>
        <p:spPr>
          <a:xfrm>
            <a:off x="457200" y="1691640"/>
            <a:ext cx="1965960" cy="3794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A4E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400" b="1" i="0" dirty="0">
                <a:solidFill>
                  <a:srgbClr val="1B7A4E"/>
                </a:solidFill>
                <a:latin typeface="Calibri"/>
                <a:cs typeface="Calibri"/>
              </a:rPr>
              <a:t/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Congelar a modelagem v3 e fechar as pendências P1 e P2 com o comercial.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Inventário das ofertas do Customer Core no template (levantamento).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Treinar duas pessoas no Product Designer.</a:t>
            </a:r>
          </a:p>
        </p:txBody>
      </p:sp>
      <p:sp>
        <p:nvSpPr>
          <p:cNvPr id="5" name="Pill"/>
          <p:cNvSpPr/>
          <p:nvPr/>
        </p:nvSpPr>
        <p:spPr>
          <a:xfrm>
            <a:off x="2560320" y="1143000"/>
            <a:ext cx="1965960" cy="457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Onda 1  ·  Semanas 1 e 2</a:t>
            </a:r>
          </a:p>
        </p:txBody>
      </p:sp>
      <p:sp>
        <p:nvSpPr>
          <p:cNvPr id="6" name="Card"/>
          <p:cNvSpPr/>
          <p:nvPr/>
        </p:nvSpPr>
        <p:spPr>
          <a:xfrm>
            <a:off x="2560320" y="1691640"/>
            <a:ext cx="1965960" cy="3794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400" b="1" i="0" dirty="0">
                <a:solidFill>
                  <a:srgbClr val="2E75B6"/>
                </a:solidFill>
                <a:latin typeface="Calibri"/>
                <a:cs typeface="Calibri"/>
              </a:rPr>
              <a:t/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Projeto do EPC da onda aberto como padrão; 11 ofertas de conectividade cadastradas em sandbox.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Teste no carrinho por família; projeto Released e exportado.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Checklist de jobs pós-carga validado.</a:t>
            </a:r>
          </a:p>
        </p:txBody>
      </p:sp>
      <p:sp>
        <p:nvSpPr>
          <p:cNvPr id="7" name="Pill"/>
          <p:cNvSpPr/>
          <p:nvPr/>
        </p:nvSpPr>
        <p:spPr>
          <a:xfrm>
            <a:off x="4663440" y="1143000"/>
            <a:ext cx="1965960" cy="4572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Onda 2  ·  Semanas 2 a 4</a:t>
            </a:r>
          </a:p>
        </p:txBody>
      </p:sp>
      <p:sp>
        <p:nvSpPr>
          <p:cNvPr id="8" name="Card"/>
          <p:cNvSpPr/>
          <p:nvPr/>
        </p:nvSpPr>
        <p:spPr>
          <a:xfrm>
            <a:off x="4663440" y="1691640"/>
            <a:ext cx="1965960" cy="3794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400" b="1" i="0" dirty="0">
                <a:solidFill>
                  <a:srgbClr val="2E75B6"/>
                </a:solidFill>
                <a:latin typeface="Calibri"/>
                <a:cs typeface="Calibri"/>
              </a:rPr>
              <a:t/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Demais famílias em sandbox, uma por vez, pelo mesmo procedimento.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Homologação do comercial no carrinho.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Manual de configuração revisado com quem operou.</a:t>
            </a:r>
          </a:p>
        </p:txBody>
      </p:sp>
      <p:sp>
        <p:nvSpPr>
          <p:cNvPr id="9" name="Pill"/>
          <p:cNvSpPr/>
          <p:nvPr/>
        </p:nvSpPr>
        <p:spPr>
          <a:xfrm>
            <a:off x="6766560" y="1143000"/>
            <a:ext cx="1965960" cy="45720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Onda 3  ·  Semanas 4 e 5</a:t>
            </a:r>
          </a:p>
        </p:txBody>
      </p:sp>
      <p:sp>
        <p:nvSpPr>
          <p:cNvPr id="10" name="Card"/>
          <p:cNvSpPr/>
          <p:nvPr/>
        </p:nvSpPr>
        <p:spPr>
          <a:xfrm>
            <a:off x="6766560" y="1691640"/>
            <a:ext cx="1965960" cy="3794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400" b="1" i="0" dirty="0">
                <a:solidFill>
                  <a:srgbClr val="1F3864"/>
                </a:solidFill>
                <a:latin typeface="Calibri"/>
                <a:cs typeface="Calibri"/>
              </a:rPr>
              <a:t/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Publicação em preprod e produção pelo IDX Workbench a partir dos projetos Released, jobs na ordem, em janela.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Treinamento do time e entrega do manual.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00" b="0" i="0" dirty="0">
                <a:solidFill>
                  <a:srgbClr val="444444"/>
                </a:solidFill>
                <a:latin typeface="Calibri"/>
                <a:cs typeface="Calibri"/>
              </a:rPr>
              <a:t>Decisão sobre a fase 2 do Agentforce.</a:t>
            </a:r>
          </a:p>
        </p:txBody>
      </p:sp>
      <p:sp>
        <p:nvSpPr>
          <p:cNvPr id="11" name="Pill"/>
          <p:cNvSpPr/>
          <p:nvPr/>
        </p:nvSpPr>
        <p:spPr>
          <a:xfrm>
            <a:off x="457200" y="5623560"/>
            <a:ext cx="8229600" cy="54864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Ganho: a conectividade entra em produção em 4 a 5 semanas e o resto segue pelo mesmo trilho. Calendário a validar com a SysMap na sprint 1 (15 a 26/09).</a:t>
            </a:r>
          </a:p>
        </p:txBody>
      </p:sp>
      <p:sp>
        <p:nvSpPr>
          <p:cNvPr id="12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Segurança para decidir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Seis garantias da rota padrão</a:t>
            </a:r>
          </a:p>
        </p:txBody>
      </p:sp>
      <p:sp>
        <p:nvSpPr>
          <p:cNvPr id="3" name="Num"/>
          <p:cNvSpPr/>
          <p:nvPr/>
        </p:nvSpPr>
        <p:spPr>
          <a:xfrm>
            <a:off x="594360" y="1325880"/>
            <a:ext cx="384048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4" name="Box"/>
          <p:cNvSpPr/>
          <p:nvPr/>
        </p:nvSpPr>
        <p:spPr>
          <a:xfrm>
            <a:off x="457200" y="1188720"/>
            <a:ext cx="402336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09728" tIns="109728" rIns="109728" bIns="109728" rtlCol="0" anchor="t">
            <a:normAutofit/>
          </a:bodyPr>
          <a:lstStyle/>
          <a:p>
            <a:endParaRPr lang="pt-BR"/>
          </a:p>
        </p:txBody>
      </p:sp>
      <p:sp>
        <p:nvSpPr>
          <p:cNvPr id="5" name="Txt"/>
          <p:cNvSpPr txBox="1"/>
          <p:nvPr/>
        </p:nvSpPr>
        <p:spPr>
          <a:xfrm>
            <a:off x="1097280" y="1261872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1300" b="1" i="0" dirty="0">
                <a:solidFill>
                  <a:srgbClr val="1F3864"/>
                </a:solidFill>
                <a:latin typeface="Calibri"/>
                <a:cs typeface="Calibri"/>
              </a:rPr>
              <a:t>Ferramenta padrão, suportada</a:t>
            </a:r>
          </a:p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Product Designer e DataPacks são os caminhos documentados pela Salesforce; nada depende de código nosso.</a:t>
            </a:r>
          </a:p>
        </p:txBody>
      </p:sp>
      <p:sp>
        <p:nvSpPr>
          <p:cNvPr id="6" name="Num"/>
          <p:cNvSpPr/>
          <p:nvPr/>
        </p:nvSpPr>
        <p:spPr>
          <a:xfrm>
            <a:off x="4800600" y="1325880"/>
            <a:ext cx="384048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7" name="Box"/>
          <p:cNvSpPr/>
          <p:nvPr/>
        </p:nvSpPr>
        <p:spPr>
          <a:xfrm>
            <a:off x="4663440" y="1188720"/>
            <a:ext cx="402336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09728" tIns="109728" rIns="109728" bIns="109728" rtlCol="0" anchor="t">
            <a:normAutofit/>
          </a:bodyPr>
          <a:lstStyle/>
          <a:p>
            <a:endParaRPr lang="pt-BR"/>
          </a:p>
        </p:txBody>
      </p:sp>
      <p:sp>
        <p:nvSpPr>
          <p:cNvPr id="8" name="Txt"/>
          <p:cNvSpPr txBox="1"/>
          <p:nvPr/>
        </p:nvSpPr>
        <p:spPr>
          <a:xfrm>
            <a:off x="5303520" y="1261872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1300" b="1" i="0" dirty="0">
                <a:solidFill>
                  <a:srgbClr val="1F3864"/>
                </a:solidFill>
                <a:latin typeface="Calibri"/>
                <a:cs typeface="Calibri"/>
              </a:rPr>
              <a:t>Validação ao salvar</a:t>
            </a:r>
          </a:p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Tipo de objeto, atributos, cardinalidade e preço são conferidos pela interface antes de existir a oferta.</a:t>
            </a:r>
          </a:p>
        </p:txBody>
      </p:sp>
      <p:sp>
        <p:nvSpPr>
          <p:cNvPr id="9" name="Num"/>
          <p:cNvSpPr/>
          <p:nvPr/>
        </p:nvSpPr>
        <p:spPr>
          <a:xfrm>
            <a:off x="594360" y="2788920"/>
            <a:ext cx="384048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0" name="Box"/>
          <p:cNvSpPr/>
          <p:nvPr/>
        </p:nvSpPr>
        <p:spPr>
          <a:xfrm>
            <a:off x="457200" y="2651760"/>
            <a:ext cx="402336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09728" tIns="109728" rIns="109728" bIns="109728" rtlCol="0" anchor="t">
            <a:normAutofit/>
          </a:bodyPr>
          <a:lstStyle/>
          <a:p>
            <a:endParaRPr lang="pt-BR"/>
          </a:p>
        </p:txBody>
      </p:sp>
      <p:sp>
        <p:nvSpPr>
          <p:cNvPr id="11" name="Txt"/>
          <p:cNvSpPr txBox="1"/>
          <p:nvPr/>
        </p:nvSpPr>
        <p:spPr>
          <a:xfrm>
            <a:off x="1097280" y="2724912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1300" b="1" i="0" dirty="0">
                <a:solidFill>
                  <a:srgbClr val="1F3864"/>
                </a:solidFill>
                <a:latin typeface="Calibri"/>
                <a:cs typeface="Calibri"/>
              </a:rPr>
              <a:t>Sandbox antes de produção</a:t>
            </a:r>
          </a:p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Toda oferta nasce em sandbox num projeto do EPC e passa por Draft, In-Review e In-Test; só em Released migra pelo IDX Workbench.</a:t>
            </a:r>
          </a:p>
        </p:txBody>
      </p:sp>
      <p:sp>
        <p:nvSpPr>
          <p:cNvPr id="12" name="Num"/>
          <p:cNvSpPr/>
          <p:nvPr/>
        </p:nvSpPr>
        <p:spPr>
          <a:xfrm>
            <a:off x="4800600" y="2788920"/>
            <a:ext cx="384048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3" name="Box"/>
          <p:cNvSpPr/>
          <p:nvPr/>
        </p:nvSpPr>
        <p:spPr>
          <a:xfrm>
            <a:off x="4663440" y="2651760"/>
            <a:ext cx="402336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09728" tIns="109728" rIns="109728" bIns="109728" rtlCol="0" anchor="t">
            <a:normAutofit/>
          </a:bodyPr>
          <a:lstStyle/>
          <a:p>
            <a:endParaRPr lang="pt-BR"/>
          </a:p>
        </p:txBody>
      </p:sp>
      <p:sp>
        <p:nvSpPr>
          <p:cNvPr id="14" name="Txt"/>
          <p:cNvSpPr txBox="1"/>
          <p:nvPr/>
        </p:nvSpPr>
        <p:spPr>
          <a:xfrm>
            <a:off x="5303520" y="2724912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1300" b="1" i="0" dirty="0">
                <a:solidFill>
                  <a:srgbClr val="1F3864"/>
                </a:solidFill>
                <a:latin typeface="Calibri"/>
                <a:cs typeface="Calibri"/>
              </a:rPr>
              <a:t>Evidência e versionamento</a:t>
            </a:r>
          </a:p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O projeto do EPC lista cada item alterado (Add, Change, Delete); o DataPack de cada onda fica guardado; versionamento é nativo.</a:t>
            </a:r>
          </a:p>
        </p:txBody>
      </p:sp>
      <p:sp>
        <p:nvSpPr>
          <p:cNvPr id="15" name="Num"/>
          <p:cNvSpPr/>
          <p:nvPr/>
        </p:nvSpPr>
        <p:spPr>
          <a:xfrm>
            <a:off x="594360" y="4251960"/>
            <a:ext cx="384048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6" name="Box"/>
          <p:cNvSpPr/>
          <p:nvPr/>
        </p:nvSpPr>
        <p:spPr>
          <a:xfrm>
            <a:off x="457200" y="4114800"/>
            <a:ext cx="402336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09728" tIns="109728" rIns="109728" bIns="109728" rtlCol="0" anchor="t">
            <a:normAutofit/>
          </a:bodyPr>
          <a:lstStyle/>
          <a:p>
            <a:endParaRPr lang="pt-BR"/>
          </a:p>
        </p:txBody>
      </p:sp>
      <p:sp>
        <p:nvSpPr>
          <p:cNvPr id="17" name="Txt"/>
          <p:cNvSpPr txBox="1"/>
          <p:nvPr/>
        </p:nvSpPr>
        <p:spPr>
          <a:xfrm>
            <a:off x="1097280" y="4187952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1300" b="1" i="0" dirty="0">
                <a:solidFill>
                  <a:srgbClr val="1F3864"/>
                </a:solidFill>
                <a:latin typeface="Calibri"/>
                <a:cs typeface="Calibri"/>
              </a:rPr>
              <a:t>Pós-carga em janela</a:t>
            </a:r>
          </a:p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Product Hierarchy Maintenance e Refresh Platform Cache na ordem documentada, em janela fora do horário de venda: a Help manda não rodar jobs em produção ao vivo.</a:t>
            </a:r>
          </a:p>
        </p:txBody>
      </p:sp>
      <p:sp>
        <p:nvSpPr>
          <p:cNvPr id="18" name="Num"/>
          <p:cNvSpPr/>
          <p:nvPr/>
        </p:nvSpPr>
        <p:spPr>
          <a:xfrm>
            <a:off x="4800600" y="4251960"/>
            <a:ext cx="384048" cy="384048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18288" tIns="18288" rIns="18288" bIns="18288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4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19" name="Box"/>
          <p:cNvSpPr/>
          <p:nvPr/>
        </p:nvSpPr>
        <p:spPr>
          <a:xfrm>
            <a:off x="4663440" y="4114800"/>
            <a:ext cx="4023360" cy="13258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109728" tIns="109728" rIns="109728" bIns="109728" rtlCol="0" anchor="t">
            <a:normAutofit/>
          </a:bodyPr>
          <a:lstStyle/>
          <a:p>
            <a:endParaRPr lang="pt-BR"/>
          </a:p>
        </p:txBody>
      </p:sp>
      <p:sp>
        <p:nvSpPr>
          <p:cNvPr id="20" name="Txt"/>
          <p:cNvSpPr txBox="1"/>
          <p:nvPr/>
        </p:nvSpPr>
        <p:spPr>
          <a:xfrm>
            <a:off x="5303520" y="4187952"/>
            <a:ext cx="3291840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rtlCol="0" anchor="t">
            <a:normAutofit/>
          </a:bodyPr>
          <a:lstStyle/>
          <a:p>
            <a:pPr algn="l">
              <a:spcAft>
                <a:spcPts val="300"/>
              </a:spcAft>
              <a:buNone/>
            </a:pPr>
            <a:r>
              <a:rPr lang="pt-BR" sz="1300" b="1" i="0" dirty="0">
                <a:solidFill>
                  <a:srgbClr val="1F3864"/>
                </a:solidFill>
                <a:latin typeface="Calibri"/>
                <a:cs typeface="Calibri"/>
              </a:rPr>
              <a:t>Reversibilidade e donos</a:t>
            </a:r>
          </a:p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Oferta errada é aposentada pelo ciclo de vida, não excluída; cada etapa tem dono e substituto nomeados.</a:t>
            </a:r>
          </a:p>
        </p:txBody>
      </p:sp>
      <p:sp>
        <p:nvSpPr>
          <p:cNvPr id="21" name="Pill"/>
          <p:cNvSpPr/>
          <p:nvPr/>
        </p:nvSpPr>
        <p:spPr>
          <a:xfrm>
            <a:off x="457200" y="5715000"/>
            <a:ext cx="8229600" cy="5029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O mesmo método já usado no projeto: validar antes, executar, conferir depois, registrar no diário.</a:t>
            </a:r>
          </a:p>
        </p:txBody>
      </p:sp>
      <p:sp>
        <p:nvSpPr>
          <p:cNvPr id="22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Manual de configuração do catálogo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Um procedimento por evento: o que fazer, quem faz, quem aprova, o que conferir</a:t>
            </a:r>
          </a:p>
        </p:txBody>
      </p:sp>
      <p:sp>
        <p:nvSpPr>
          <p:cNvPr id="3" name="Proc"/>
          <p:cNvSpPr/>
          <p:nvPr/>
        </p:nvSpPr>
        <p:spPr>
          <a:xfrm>
            <a:off x="457200" y="1143000"/>
            <a:ext cx="1591056" cy="914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pt-BR" sz="1200" b="1" i="0" dirty="0">
                <a:solidFill>
                  <a:srgbClr val="FFFFFF"/>
                </a:solidFill>
                <a:latin typeface="Calibri"/>
                <a:cs typeface="Calibri"/>
              </a:rPr>
              <a:t>Produto novo</a:t>
            </a:r>
          </a:p>
          <a:p>
            <a:pPr algn="ctr">
              <a:spcAft>
                <a:spcPts val="0"/>
              </a:spcAft>
              <a:buNone/>
            </a:pPr>
            <a:r>
              <a:rPr lang="pt-BR" sz="950.0" b="0" i="0" dirty="0">
                <a:solidFill>
                  <a:srgbClr val="D9E2F3"/>
                </a:solidFill>
                <a:latin typeface="Calibri"/>
                <a:cs typeface="Calibri"/>
              </a:rPr>
              <a:t>tipo de objeto + oferta</a:t>
            </a:r>
          </a:p>
        </p:txBody>
      </p:sp>
      <p:sp>
        <p:nvSpPr>
          <p:cNvPr id="4" name="Proc"/>
          <p:cNvSpPr/>
          <p:nvPr/>
        </p:nvSpPr>
        <p:spPr>
          <a:xfrm>
            <a:off x="2139696" y="1143000"/>
            <a:ext cx="1591056" cy="914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pt-BR" sz="1200" b="1" i="0" dirty="0">
                <a:solidFill>
                  <a:srgbClr val="FFFFFF"/>
                </a:solidFill>
                <a:latin typeface="Calibri"/>
                <a:cs typeface="Calibri"/>
              </a:rPr>
              <a:t>Pacote ou combo</a:t>
            </a:r>
          </a:p>
          <a:p>
            <a:pPr algn="ctr">
              <a:spcAft>
                <a:spcPts val="0"/>
              </a:spcAft>
              <a:buNone/>
            </a:pPr>
            <a:r>
              <a:rPr lang="pt-BR" sz="950.0" b="0" i="0" dirty="0">
                <a:solidFill>
                  <a:srgbClr val="D9E2F3"/>
                </a:solidFill>
                <a:latin typeface="Calibri"/>
                <a:cs typeface="Calibri"/>
              </a:rPr>
              <a:t>estrutura e cardinalidade</a:t>
            </a:r>
          </a:p>
        </p:txBody>
      </p:sp>
      <p:sp>
        <p:nvSpPr>
          <p:cNvPr id="5" name="Proc"/>
          <p:cNvSpPr/>
          <p:nvPr/>
        </p:nvSpPr>
        <p:spPr>
          <a:xfrm>
            <a:off x="3822192" y="1143000"/>
            <a:ext cx="1591056" cy="914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pt-BR" sz="1200" b="1" i="0" dirty="0">
                <a:solidFill>
                  <a:srgbClr val="FFFFFF"/>
                </a:solidFill>
                <a:latin typeface="Calibri"/>
                <a:cs typeface="Calibri"/>
              </a:rPr>
              <a:t>Promoção</a:t>
            </a:r>
          </a:p>
          <a:p>
            <a:pPr algn="ctr">
              <a:spcAft>
                <a:spcPts val="0"/>
              </a:spcAft>
              <a:buNone/>
            </a:pPr>
            <a:r>
              <a:rPr lang="pt-BR" sz="950.0" b="0" i="0" dirty="0">
                <a:solidFill>
                  <a:srgbClr val="D9E2F3"/>
                </a:solidFill>
                <a:latin typeface="Calibri"/>
                <a:cs typeface="Calibri"/>
              </a:rPr>
              <a:t>promoção no pacote</a:t>
            </a:r>
          </a:p>
        </p:txBody>
      </p:sp>
      <p:sp>
        <p:nvSpPr>
          <p:cNvPr id="6" name="Proc"/>
          <p:cNvSpPr/>
          <p:nvPr/>
        </p:nvSpPr>
        <p:spPr>
          <a:xfrm>
            <a:off x="5504688" y="1143000"/>
            <a:ext cx="1591056" cy="914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pt-BR" sz="1200" b="1" i="0" dirty="0">
                <a:solidFill>
                  <a:srgbClr val="FFFFFF"/>
                </a:solidFill>
                <a:latin typeface="Calibri"/>
                <a:cs typeface="Calibri"/>
              </a:rPr>
              <a:t>Alteração de preço</a:t>
            </a:r>
          </a:p>
          <a:p>
            <a:pPr algn="ctr">
              <a:spcAft>
                <a:spcPts val="0"/>
              </a:spcAft>
              <a:buNone/>
            </a:pPr>
            <a:r>
              <a:rPr lang="pt-BR" sz="950.0" b="0" i="0" dirty="0">
                <a:solidFill>
                  <a:srgbClr val="D9E2F3"/>
                </a:solidFill>
                <a:latin typeface="Calibri"/>
                <a:cs typeface="Calibri"/>
              </a:rPr>
              <a:t>Pricing Designer</a:t>
            </a:r>
          </a:p>
        </p:txBody>
      </p:sp>
      <p:sp>
        <p:nvSpPr>
          <p:cNvPr id="7" name="Proc"/>
          <p:cNvSpPr/>
          <p:nvPr/>
        </p:nvSpPr>
        <p:spPr>
          <a:xfrm>
            <a:off x="7187184" y="1143000"/>
            <a:ext cx="1591056" cy="91440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200"/>
              </a:spcAft>
              <a:buNone/>
            </a:pPr>
            <a:r>
              <a:rPr lang="pt-BR" sz="1200" b="1" i="0" dirty="0">
                <a:solidFill>
                  <a:srgbClr val="FFFFFF"/>
                </a:solidFill>
                <a:latin typeface="Calibri"/>
                <a:cs typeface="Calibri"/>
              </a:rPr>
              <a:t>Descontinuação</a:t>
            </a:r>
          </a:p>
          <a:p>
            <a:pPr algn="ctr">
              <a:spcAft>
                <a:spcPts val="0"/>
              </a:spcAft>
              <a:buNone/>
            </a:pPr>
            <a:r>
              <a:rPr lang="pt-BR" sz="950.0" b="0" i="0" dirty="0">
                <a:solidFill>
                  <a:srgbClr val="D9E2F3"/>
                </a:solidFill>
                <a:latin typeface="Calibri"/>
                <a:cs typeface="Calibri"/>
              </a:rPr>
              <a:t>ciclo de vida: aposentar</a:t>
            </a:r>
          </a:p>
        </p:txBody>
      </p:sp>
      <p:sp>
        <p:nvSpPr>
          <p:cNvPr id="8" name="Card"/>
          <p:cNvSpPr/>
          <p:nvPr/>
        </p:nvSpPr>
        <p:spPr>
          <a:xfrm>
            <a:off x="457200" y="2240280"/>
            <a:ext cx="402336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1F3864"/>
                </a:solidFill>
                <a:latin typeface="Calibri"/>
                <a:cs typeface="Calibri"/>
              </a:rPr>
              <a:t>Cada procedimento tem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1" i="0" dirty="0">
                <a:solidFill>
                  <a:srgbClr val="444444"/>
                </a:solidFill>
                <a:latin typeface="Calibri"/>
                <a:cs typeface="Calibri"/>
              </a:rPr>
              <a:t>Pré-requisitos: </a:t>
            </a: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oferta aprovada pelo comercial, códigos e preços na planilha de levantamento; projeto do EPC do evento aberto e definido como padrão.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1" i="0" dirty="0">
                <a:solidFill>
                  <a:srgbClr val="444444"/>
                </a:solidFill>
                <a:latin typeface="Calibri"/>
                <a:cs typeface="Calibri"/>
              </a:rPr>
              <a:t>Quem faz cada etapa: </a:t>
            </a: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o status do projeto do EPC marca a etapa: Draft (analista), In-Review (governança), In-Test (comercial no carrinho), Released (publicação). Nomes, não áreas.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1" i="0" dirty="0">
                <a:solidFill>
                  <a:srgbClr val="444444"/>
                </a:solidFill>
                <a:latin typeface="Calibri"/>
                <a:cs typeface="Calibri"/>
              </a:rPr>
              <a:t>Passo a passo com telas: </a:t>
            </a: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sequência exata no Product Designer, campo a campo.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1" i="0" dirty="0">
                <a:solidFill>
                  <a:srgbClr val="444444"/>
                </a:solidFill>
                <a:latin typeface="Calibri"/>
                <a:cs typeface="Calibri"/>
              </a:rPr>
              <a:t>Pós-carga: </a:t>
            </a: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Product Hierarchy Maintenance e Refresh Platform Cache (Incremental) em janela; roteiro de teste no carrinho.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1" i="0" dirty="0">
                <a:solidFill>
                  <a:srgbClr val="444444"/>
                </a:solidFill>
                <a:latin typeface="Calibri"/>
                <a:cs typeface="Calibri"/>
              </a:rPr>
              <a:t>Evidência: </a:t>
            </a: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projeto do EPC Released e migrado pelo IDX, resultado do teste e registro no diário.</a:t>
            </a:r>
          </a:p>
        </p:txBody>
      </p:sp>
      <p:sp>
        <p:nvSpPr>
          <p:cNvPr id="9" name="Card"/>
          <p:cNvSpPr/>
          <p:nvPr/>
        </p:nvSpPr>
        <p:spPr>
          <a:xfrm>
            <a:off x="4663440" y="2240280"/>
            <a:ext cx="4023360" cy="3291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txBody>
          <a:bodyPr wrap="square" lIns="137160" tIns="137160" rIns="137160" bIns="137160" rtlCol="0" anchor="t"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pt-BR" sz="1400" b="1" i="0" dirty="0">
                <a:solidFill>
                  <a:srgbClr val="1F3864"/>
                </a:solidFill>
                <a:latin typeface="Calibri"/>
                <a:cs typeface="Calibri"/>
              </a:rPr>
              <a:t>Anexos do manual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Dicionário de códigos: catálogos, categorias, picklists e atributos.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Planilha de levantamento (o template) preenchida por tipo de oferta.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Calendário: janela mensal de manutenção e 3 a 4 cargas por ano.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Erros comuns e como corrigir (oferta não aparece no carrinho, job não executado, preço errado, vírgula em valor de picklist).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Roteiro do Agentforce, quando entrar: o que faz e o que sempre pede aprovação.</a:t>
            </a:r>
          </a:p>
        </p:txBody>
      </p:sp>
      <p:sp>
        <p:nvSpPr>
          <p:cNvPr id="10" name="Pill"/>
          <p:cNvSpPr/>
          <p:nvPr/>
        </p:nvSpPr>
        <p:spPr>
          <a:xfrm>
            <a:off x="457200" y="5715000"/>
            <a:ext cx="8229600" cy="50292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Entrega: rascunho na Onda 2, versão final e treinamento na Onda 3. Mantido pela governança Salesforce a cada mudança de modelagem.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Pessoas e rotina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Quem faz o quê, para o catálogo não depender de uma pessoa só</a:t>
            </a:r>
          </a:p>
        </p:txBody>
      </p:sp>
      <p:sp>
        <p:nvSpPr>
          <p:cNvPr id="3" name="Role"/>
          <p:cNvSpPr/>
          <p:nvPr/>
        </p:nvSpPr>
        <p:spPr>
          <a:xfrm>
            <a:off x="457200" y="1143000"/>
            <a:ext cx="2377440" cy="758952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50.0" b="1" i="0" dirty="0">
                <a:solidFill>
                  <a:srgbClr val="FFFFFF"/>
                </a:solidFill>
                <a:latin typeface="Calibri"/>
                <a:cs typeface="Calibri"/>
              </a:rPr>
              <a:t>Dono do catálogo (Comercial)</a:t>
            </a:r>
          </a:p>
        </p:txBody>
      </p:sp>
      <p:sp>
        <p:nvSpPr>
          <p:cNvPr id="4" name="Desc"/>
          <p:cNvSpPr/>
          <p:nvPr/>
        </p:nvSpPr>
        <p:spPr>
          <a:xfrm>
            <a:off x="2926080" y="1143000"/>
            <a:ext cx="5760720" cy="7589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7A4E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Define e aprova ofertas, preços e promoções; responde às pendências de negócio; homologa no carrinho na etapa In-Test.</a:t>
            </a:r>
          </a:p>
        </p:txBody>
      </p:sp>
      <p:sp>
        <p:nvSpPr>
          <p:cNvPr id="5" name="Role"/>
          <p:cNvSpPr/>
          <p:nvPr/>
        </p:nvSpPr>
        <p:spPr>
          <a:xfrm>
            <a:off x="457200" y="1993392"/>
            <a:ext cx="2377440" cy="75895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50.0" b="1" i="0" dirty="0">
                <a:solidFill>
                  <a:srgbClr val="FFFFFF"/>
                </a:solidFill>
                <a:latin typeface="Calibri"/>
                <a:cs typeface="Calibri"/>
              </a:rPr>
              <a:t>Analistas de catálogo (2 pessoas)</a:t>
            </a:r>
          </a:p>
        </p:txBody>
      </p:sp>
      <p:sp>
        <p:nvSpPr>
          <p:cNvPr id="6" name="Desc"/>
          <p:cNvSpPr/>
          <p:nvPr/>
        </p:nvSpPr>
        <p:spPr>
          <a:xfrm>
            <a:off x="2926080" y="1993392"/>
            <a:ext cx="5760720" cy="7589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Abrem o projeto do EPC e cadastram no Product Designer pelo manual (Draft); rodam o checklist pós-carga em janela.</a:t>
            </a:r>
          </a:p>
        </p:txBody>
      </p:sp>
      <p:sp>
        <p:nvSpPr>
          <p:cNvPr id="7" name="Role"/>
          <p:cNvSpPr/>
          <p:nvPr/>
        </p:nvSpPr>
        <p:spPr>
          <a:xfrm>
            <a:off x="457200" y="2843784"/>
            <a:ext cx="2377440" cy="758952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50.0" b="1" i="0" dirty="0">
                <a:solidFill>
                  <a:srgbClr val="FFFFFF"/>
                </a:solidFill>
                <a:latin typeface="Calibri"/>
                <a:cs typeface="Calibri"/>
              </a:rPr>
              <a:t>Governança Salesforce (BTP)</a:t>
            </a:r>
          </a:p>
        </p:txBody>
      </p:sp>
      <p:sp>
        <p:nvSpPr>
          <p:cNvPr id="8" name="Desc"/>
          <p:cNvSpPr/>
          <p:nvPr/>
        </p:nvSpPr>
        <p:spPr>
          <a:xfrm>
            <a:off x="2926080" y="2843784"/>
            <a:ext cx="5760720" cy="7589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3864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Revisa o projeto (In-Review), marca Released e publica pelo IDX; mantém o manual e o diário de cargas.</a:t>
            </a:r>
          </a:p>
        </p:txBody>
      </p:sp>
      <p:sp>
        <p:nvSpPr>
          <p:cNvPr id="9" name="Role"/>
          <p:cNvSpPr/>
          <p:nvPr/>
        </p:nvSpPr>
        <p:spPr>
          <a:xfrm>
            <a:off x="457200" y="3694176"/>
            <a:ext cx="2377440" cy="758952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50.0" b="1" i="0" dirty="0">
                <a:solidFill>
                  <a:srgbClr val="FFFFFF"/>
                </a:solidFill>
                <a:latin typeface="Calibri"/>
                <a:cs typeface="Calibri"/>
              </a:rPr>
              <a:t>SysMap (projeto)</a:t>
            </a:r>
          </a:p>
        </p:txBody>
      </p:sp>
      <p:sp>
        <p:nvSpPr>
          <p:cNvPr id="10" name="Desc"/>
          <p:cNvSpPr/>
          <p:nvPr/>
        </p:nvSpPr>
        <p:spPr>
          <a:xfrm>
            <a:off x="2926080" y="3694176"/>
            <a:ext cx="5760720" cy="7589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75B6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Modelagem nova (tipo, atributo, regra), migração das ondas e correções em produção sob demanda.</a:t>
            </a:r>
          </a:p>
        </p:txBody>
      </p:sp>
      <p:sp>
        <p:nvSpPr>
          <p:cNvPr id="11" name="Role"/>
          <p:cNvSpPr/>
          <p:nvPr/>
        </p:nvSpPr>
        <p:spPr>
          <a:xfrm>
            <a:off x="457200" y="4544568"/>
            <a:ext cx="2377440" cy="758952"/>
          </a:xfrm>
          <a:prstGeom prst="roundRect">
            <a:avLst/>
          </a:prstGeom>
          <a:solidFill>
            <a:srgbClr val="B7791F"/>
          </a:solidFill>
          <a:ln>
            <a:noFill/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50.0" b="1" i="0" dirty="0">
                <a:solidFill>
                  <a:srgbClr val="FFFFFF"/>
                </a:solidFill>
                <a:latin typeface="Calibri"/>
                <a:cs typeface="Calibri"/>
              </a:rPr>
              <a:t>Agentforce (fase 2)</a:t>
            </a:r>
          </a:p>
        </p:txBody>
      </p:sp>
      <p:sp>
        <p:nvSpPr>
          <p:cNvPr id="12" name="Desc"/>
          <p:cNvSpPr/>
          <p:nvPr/>
        </p:nvSpPr>
        <p:spPr>
          <a:xfrm>
            <a:off x="2926080" y="4544568"/>
            <a:ext cx="5760720" cy="758952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7791F"/>
            </a:solidFill>
          </a:ln>
        </p:spPr>
        <p:txBody>
          <a:bodyPr wrap="square" lIns="91440" tIns="91440" rIns="91440" bIns="91440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Vendedor: cotação e pedido pelo carrinho, pronto no pacote. Catálogo: explica o manual, monta checklist, confere pós-carga. Nunca publica.</a:t>
            </a:r>
          </a:p>
        </p:txBody>
      </p:sp>
      <p:sp>
        <p:nvSpPr>
          <p:cNvPr id="13" name="Pill"/>
          <p:cNvSpPr/>
          <p:nvPr/>
        </p:nvSpPr>
        <p:spPr>
          <a:xfrm>
            <a:off x="457200" y="5486400"/>
            <a:ext cx="8229600" cy="731520"/>
          </a:xfrm>
          <a:prstGeom prst="roundRect">
            <a:avLst/>
          </a:prstGeom>
          <a:solidFill>
            <a:srgbClr val="1F3864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Rotina proposta: reunião de catálogo quinzenal de 30 minutos (comercial + governança + SysMap); janela mensal de manutenção; toda carga com dono, substituto e evidência.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457200" tIns="457200" rIns="457200" bIns="457200" rtlCol="0" anchor="ctr">
            <a:normAutofit/>
          </a:bodyPr>
          <a:lstStyle/>
          <a:p>
            <a:pPr algn="l">
              <a:spcAft>
                <a:spcPts val="200"/>
              </a:spcAft>
              <a:buNone/>
            </a:pPr>
            <a:r>
              <a:rPr lang="pt-BR" sz="2400" b="1" i="0" dirty="0">
                <a:solidFill>
                  <a:srgbClr val="FFFFFF"/>
                </a:solidFill>
                <a:latin typeface="Calibri"/>
                <a:cs typeface="Calibri"/>
              </a:rPr>
              <a:t>Recomendação e próximos passos</a:t>
            </a:r>
          </a:p>
          <a:p>
            <a:pPr algn="l">
              <a:spcAft>
                <a:spcPts val="0"/>
              </a:spcAft>
              <a:buNone/>
            </a:pPr>
            <a:r>
              <a:rPr lang="pt-BR" sz="1300" b="0" i="0" dirty="0">
                <a:solidFill>
                  <a:srgbClr val="D9E2F3"/>
                </a:solidFill>
                <a:latin typeface="Calibri"/>
                <a:cs typeface="Calibri"/>
              </a:rPr>
              <a:t>Rota padrão para a carga, manual e papéis para a manutenção, Agentforce como apoio em fase 2</a:t>
            </a:r>
          </a:p>
        </p:txBody>
      </p:sp>
      <p:sp>
        <p:nvSpPr>
          <p:cNvPr id="3" name="Th"/>
          <p:cNvSpPr/>
          <p:nvPr/>
        </p:nvSpPr>
        <p:spPr>
          <a:xfrm>
            <a:off x="457200" y="1143000"/>
            <a:ext cx="420624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Ação</a:t>
            </a:r>
          </a:p>
        </p:txBody>
      </p:sp>
      <p:sp>
        <p:nvSpPr>
          <p:cNvPr id="4" name="Th"/>
          <p:cNvSpPr/>
          <p:nvPr/>
        </p:nvSpPr>
        <p:spPr>
          <a:xfrm>
            <a:off x="4709160" y="1143000"/>
            <a:ext cx="219456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Responsável</a:t>
            </a:r>
          </a:p>
        </p:txBody>
      </p:sp>
      <p:sp>
        <p:nvSpPr>
          <p:cNvPr id="5" name="Th"/>
          <p:cNvSpPr/>
          <p:nvPr/>
        </p:nvSpPr>
        <p:spPr>
          <a:xfrm>
            <a:off x="6949440" y="1143000"/>
            <a:ext cx="1737360" cy="41148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Quando</a:t>
            </a:r>
          </a:p>
        </p:txBody>
      </p:sp>
      <p:sp>
        <p:nvSpPr>
          <p:cNvPr id="6" name="Td"/>
          <p:cNvSpPr/>
          <p:nvPr/>
        </p:nvSpPr>
        <p:spPr>
          <a:xfrm>
            <a:off x="457200" y="1600200"/>
            <a:ext cx="42062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1. Aprovar a rota padrão e o calendário em ondas; suspender o wizard</a:t>
            </a:r>
          </a:p>
        </p:txBody>
      </p:sp>
      <p:sp>
        <p:nvSpPr>
          <p:cNvPr id="7" name="Td"/>
          <p:cNvSpPr/>
          <p:nvPr/>
        </p:nvSpPr>
        <p:spPr>
          <a:xfrm>
            <a:off x="4709160" y="1600200"/>
            <a:ext cx="2194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Presidência</a:t>
            </a:r>
          </a:p>
        </p:txBody>
      </p:sp>
      <p:sp>
        <p:nvSpPr>
          <p:cNvPr id="8" name="Td"/>
          <p:cNvSpPr/>
          <p:nvPr/>
        </p:nvSpPr>
        <p:spPr>
          <a:xfrm>
            <a:off x="6949440" y="1600200"/>
            <a:ext cx="1737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esta semana</a:t>
            </a:r>
          </a:p>
        </p:txBody>
      </p:sp>
      <p:sp>
        <p:nvSpPr>
          <p:cNvPr id="9" name="Td"/>
          <p:cNvSpPr/>
          <p:nvPr/>
        </p:nvSpPr>
        <p:spPr>
          <a:xfrm>
            <a:off x="457200" y="2130552"/>
            <a:ext cx="4206240" cy="484632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2. Nomear o dono do catálogo e os dois analistas</a:t>
            </a:r>
          </a:p>
        </p:txBody>
      </p:sp>
      <p:sp>
        <p:nvSpPr>
          <p:cNvPr id="10" name="Td"/>
          <p:cNvSpPr/>
          <p:nvPr/>
        </p:nvSpPr>
        <p:spPr>
          <a:xfrm>
            <a:off x="4709160" y="2130552"/>
            <a:ext cx="2194560" cy="484632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Presidência e Comercial</a:t>
            </a:r>
          </a:p>
        </p:txBody>
      </p:sp>
      <p:sp>
        <p:nvSpPr>
          <p:cNvPr id="11" name="Td"/>
          <p:cNvSpPr/>
          <p:nvPr/>
        </p:nvSpPr>
        <p:spPr>
          <a:xfrm>
            <a:off x="6949440" y="2130552"/>
            <a:ext cx="1737360" cy="484632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esta semana</a:t>
            </a:r>
          </a:p>
        </p:txBody>
      </p:sp>
      <p:sp>
        <p:nvSpPr>
          <p:cNvPr id="12" name="Td"/>
          <p:cNvSpPr/>
          <p:nvPr/>
        </p:nvSpPr>
        <p:spPr>
          <a:xfrm>
            <a:off x="457200" y="2660904"/>
            <a:ext cx="42062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3. Fechar P1 e P2 (prazo e valores dos adicionais)</a:t>
            </a:r>
          </a:p>
        </p:txBody>
      </p:sp>
      <p:sp>
        <p:nvSpPr>
          <p:cNvPr id="13" name="Td"/>
          <p:cNvSpPr/>
          <p:nvPr/>
        </p:nvSpPr>
        <p:spPr>
          <a:xfrm>
            <a:off x="4709160" y="2660904"/>
            <a:ext cx="2194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Comercial (Joel)</a:t>
            </a:r>
          </a:p>
        </p:txBody>
      </p:sp>
      <p:sp>
        <p:nvSpPr>
          <p:cNvPr id="14" name="Td"/>
          <p:cNvSpPr/>
          <p:nvPr/>
        </p:nvSpPr>
        <p:spPr>
          <a:xfrm>
            <a:off x="6949440" y="2660904"/>
            <a:ext cx="1737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semana 1</a:t>
            </a:r>
          </a:p>
        </p:txBody>
      </p:sp>
      <p:sp>
        <p:nvSpPr>
          <p:cNvPr id="15" name="Td"/>
          <p:cNvSpPr/>
          <p:nvPr/>
        </p:nvSpPr>
        <p:spPr>
          <a:xfrm>
            <a:off x="457200" y="3191256"/>
            <a:ext cx="4206240" cy="484632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4. Inventário das ofertas no template e treinamento no Product Designer</a:t>
            </a:r>
          </a:p>
        </p:txBody>
      </p:sp>
      <p:sp>
        <p:nvSpPr>
          <p:cNvPr id="16" name="Td"/>
          <p:cNvSpPr/>
          <p:nvPr/>
        </p:nvSpPr>
        <p:spPr>
          <a:xfrm>
            <a:off x="4709160" y="3191256"/>
            <a:ext cx="2194560" cy="484632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Governança com SysMap</a:t>
            </a:r>
          </a:p>
        </p:txBody>
      </p:sp>
      <p:sp>
        <p:nvSpPr>
          <p:cNvPr id="17" name="Td"/>
          <p:cNvSpPr/>
          <p:nvPr/>
        </p:nvSpPr>
        <p:spPr>
          <a:xfrm>
            <a:off x="6949440" y="3191256"/>
            <a:ext cx="1737360" cy="484632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semana 1</a:t>
            </a:r>
          </a:p>
        </p:txBody>
      </p:sp>
      <p:sp>
        <p:nvSpPr>
          <p:cNvPr id="18" name="Td"/>
          <p:cNvSpPr/>
          <p:nvPr/>
        </p:nvSpPr>
        <p:spPr>
          <a:xfrm>
            <a:off x="457200" y="3721608"/>
            <a:ext cx="42062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5. Onda 1: conectividade em sandbox, teste no carrinho, DataPack</a:t>
            </a:r>
          </a:p>
        </p:txBody>
      </p:sp>
      <p:sp>
        <p:nvSpPr>
          <p:cNvPr id="19" name="Td"/>
          <p:cNvSpPr/>
          <p:nvPr/>
        </p:nvSpPr>
        <p:spPr>
          <a:xfrm>
            <a:off x="4709160" y="3721608"/>
            <a:ext cx="2194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Analistas com SysMap</a:t>
            </a:r>
          </a:p>
        </p:txBody>
      </p:sp>
      <p:sp>
        <p:nvSpPr>
          <p:cNvPr id="20" name="Td"/>
          <p:cNvSpPr/>
          <p:nvPr/>
        </p:nvSpPr>
        <p:spPr>
          <a:xfrm>
            <a:off x="6949440" y="3721608"/>
            <a:ext cx="1737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semanas 1 e 2</a:t>
            </a:r>
          </a:p>
        </p:txBody>
      </p:sp>
      <p:sp>
        <p:nvSpPr>
          <p:cNvPr id="21" name="Td"/>
          <p:cNvSpPr/>
          <p:nvPr/>
        </p:nvSpPr>
        <p:spPr>
          <a:xfrm>
            <a:off x="457200" y="4251960"/>
            <a:ext cx="4206240" cy="484632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6. Manual de configuração e treinamento</a:t>
            </a:r>
          </a:p>
        </p:txBody>
      </p:sp>
      <p:sp>
        <p:nvSpPr>
          <p:cNvPr id="22" name="Td"/>
          <p:cNvSpPr/>
          <p:nvPr/>
        </p:nvSpPr>
        <p:spPr>
          <a:xfrm>
            <a:off x="4709160" y="4251960"/>
            <a:ext cx="2194560" cy="484632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Governança Salesforce</a:t>
            </a:r>
          </a:p>
        </p:txBody>
      </p:sp>
      <p:sp>
        <p:nvSpPr>
          <p:cNvPr id="23" name="Td"/>
          <p:cNvSpPr/>
          <p:nvPr/>
        </p:nvSpPr>
        <p:spPr>
          <a:xfrm>
            <a:off x="6949440" y="4251960"/>
            <a:ext cx="1737360" cy="484632"/>
          </a:xfrm>
          <a:prstGeom prst="rect">
            <a:avLst/>
          </a:prstGeom>
          <a:solidFill>
            <a:srgbClr val="D9E2F3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semanas 2 a 5</a:t>
            </a:r>
          </a:p>
        </p:txBody>
      </p:sp>
      <p:sp>
        <p:nvSpPr>
          <p:cNvPr id="24" name="Td"/>
          <p:cNvSpPr/>
          <p:nvPr/>
        </p:nvSpPr>
        <p:spPr>
          <a:xfrm>
            <a:off x="457200" y="4782312"/>
            <a:ext cx="420624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7. Avaliar licença e escopo do piloto do Agentforce</a:t>
            </a:r>
          </a:p>
        </p:txBody>
      </p:sp>
      <p:sp>
        <p:nvSpPr>
          <p:cNvPr id="25" name="Td"/>
          <p:cNvSpPr/>
          <p:nvPr/>
        </p:nvSpPr>
        <p:spPr>
          <a:xfrm>
            <a:off x="4709160" y="4782312"/>
            <a:ext cx="21945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Gerson com a Salesforce</a:t>
            </a:r>
          </a:p>
        </p:txBody>
      </p:sp>
      <p:sp>
        <p:nvSpPr>
          <p:cNvPr id="26" name="Td"/>
          <p:cNvSpPr/>
          <p:nvPr/>
        </p:nvSpPr>
        <p:spPr>
          <a:xfrm>
            <a:off x="6949440" y="4782312"/>
            <a:ext cx="1737360" cy="4846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73152" tIns="73152" rIns="73152" bIns="73152" rtlCol="0" anchor="ctr">
            <a:norm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pt-BR" sz="1050.0" b="0" i="0" dirty="0">
                <a:solidFill>
                  <a:srgbClr val="444444"/>
                </a:solidFill>
                <a:latin typeface="Calibri"/>
                <a:cs typeface="Calibri"/>
              </a:rPr>
              <a:t>após a Onda 1</a:t>
            </a:r>
          </a:p>
        </p:txBody>
      </p:sp>
      <p:sp>
        <p:nvSpPr>
          <p:cNvPr id="27" name="Pill"/>
          <p:cNvSpPr/>
          <p:nvPr/>
        </p:nvSpPr>
        <p:spPr>
          <a:xfrm>
            <a:off x="457200" y="5486400"/>
            <a:ext cx="8229600" cy="777240"/>
          </a:xfrm>
          <a:prstGeom prst="roundRect">
            <a:avLst/>
          </a:prstGeom>
          <a:solidFill>
            <a:srgbClr val="1B7A4E"/>
          </a:solidFill>
          <a:ln>
            <a:noFill/>
          </a:ln>
        </p:spPr>
        <p:txBody>
          <a:bodyPr wrap="square" lIns="54864" tIns="54864" rIns="54864" bIns="54864" rtlCol="0" anchor="ctr">
            <a:norm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pt-BR" sz="1100" b="1" i="0" dirty="0">
                <a:solidFill>
                  <a:srgbClr val="FFFFFF"/>
                </a:solidFill>
                <a:latin typeface="Calibri"/>
                <a:cs typeface="Calibri"/>
              </a:rPr>
              <a:t>O que a presidência ganha: a conectividade publicada em 4 a 5 semanas sem código custom, um catálogo que dois analistas treinados mantêm pelo manual, e a opção de reduzir ainda mais a dependência de pessoas com o agente, sem perder o controle da publicação.</a:t>
            </a:r>
          </a:p>
        </p:txBody>
      </p:sp>
      <p:sp>
        <p:nvSpPr>
          <p:cNvPr id="28" name="Footer"/>
          <p:cNvSpPr txBox="1"/>
          <p:nvPr/>
        </p:nvSpPr>
        <p:spPr>
          <a:xfrm>
            <a:off x="45720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algn="r">
              <a:spcAft>
                <a:spcPts val="0"/>
              </a:spcAft>
              <a:buNone/>
            </a:pPr>
            <a:r>
              <a:rPr lang="pt-BR" sz="900" b="0" i="0" dirty="0">
                <a:solidFill>
                  <a:srgbClr val="7F8C9A"/>
                </a:solidFill>
                <a:latin typeface="Calibri"/>
                <a:cs typeface="Calibri"/>
              </a:rPr>
              <a:t>Brasil TecPar | SysMap | Catálogo EPC (Vlocity)  ·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639</Words>
  <Application>Microsoft Office PowerPoint</Application>
  <PresentationFormat>Apresentação na tela (4:3)</PresentationFormat>
  <Paragraphs>61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Davi Israel de Abreu</cp:lastModifiedBy>
  <cp:revision>3</cp:revision>
  <dcterms:created xsi:type="dcterms:W3CDTF">2013-01-27T09:14:16Z</dcterms:created>
  <dcterms:modified xsi:type="dcterms:W3CDTF">2026-09-15T19:06:54Z</dcterms:modified>
  <cp:category/>
</cp:coreProperties>
</file>