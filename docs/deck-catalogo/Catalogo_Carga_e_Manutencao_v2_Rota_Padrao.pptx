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24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"/>
          <p:cNvSpPr txBox="1"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Catálogo comercial no SFA:</a:t>
            </a:r>
          </a:p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carga inicial e manutenção</a:t>
            </a:r>
          </a:p>
        </p:txBody>
      </p:sp>
      <p:sp>
        <p:nvSpPr>
          <p:cNvPr id="3" name="S"/>
          <p:cNvSpPr txBox="1"/>
          <p:nvPr/>
        </p:nvSpPr>
        <p:spPr>
          <a:xfrm>
            <a:off x="640080" y="2880360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800" b="0" i="0" dirty="0">
                <a:solidFill>
                  <a:srgbClr val="D9E2F3"/>
                </a:solidFill>
                <a:latin typeface="Calibri"/>
                <a:cs typeface="Calibri"/>
              </a:rPr>
              <a:t>Template como levantamento, cadastro pela interface padrão do EPC, Agentforce como apoio às pessoas</a:t>
            </a:r>
          </a:p>
        </p:txBody>
      </p:sp>
      <p:sp>
        <p:nvSpPr>
          <p:cNvPr id="4" name="S2"/>
          <p:cNvSpPr txBox="1"/>
          <p:nvPr/>
        </p:nvSpPr>
        <p:spPr>
          <a:xfrm>
            <a:off x="640080" y="388620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500" b="0" i="0" dirty="0">
                <a:solidFill>
                  <a:srgbClr val="D9E2F3"/>
                </a:solidFill>
                <a:latin typeface="Calibri"/>
                <a:cs typeface="Calibri"/>
              </a:rPr>
              <a:t>Proposta revisada para decisão da presidência</a:t>
            </a:r>
          </a:p>
        </p:txBody>
      </p:sp>
      <p:sp>
        <p:nvSpPr>
          <p:cNvPr id="5" name="F"/>
          <p:cNvSpPr txBox="1"/>
          <p:nvPr/>
        </p:nvSpPr>
        <p:spPr>
          <a:xfrm>
            <a:off x="640080" y="566928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D9E2F3"/>
                </a:solidFill>
                <a:latin typeface="Calibri"/>
                <a:cs typeface="Calibri"/>
              </a:rPr>
              <a:t>Brasil TecPar | SysMap | Catálogo EPC (Vlocity) |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Resumo para decisão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 carregar e manter o catálogo sem desenvolvimento custom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O que a documentação confirma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interface padrão (Product Designer) cria produto, estrutura, atributos, preço, promoção e regras com as dependências validadas.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migração sandbox para produção é feita por DataPacks e IDX Workbench, ferramentas oficiais.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Os jobs pós-carga têm ordem definida e podem ser disparados por API.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O risco do wizard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Um conversor sobre o template é código custom: reimplementa validações que a interface já faz.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Erro de dependência (tipo, atributo, cardinalidade, preço) só aparece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Precisa de manutenção a cada release do pacote e fica fora do suporte Salesforce.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Decisões pedidas hoje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1.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Carga pela interface padrão, em ondas, com o template como planilha de levantamento.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2.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Wizard suspenso; retomar só se o volume justificar, sobre as APIs oficiais.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3.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Nomear o dono do catálogo e o substituto.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4.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Agentforce como assistente, fase 2, após avaliar licença.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Recomendação: rota padrão para a carga; manual de configuração e papéis nomeados para a manutenção; agente como apoio, nunca como autor.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 que a documentação oficial diz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Salesforce Help, Developer Docs e anúncio oficial, conferidos em 16/09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Product Designer (interface padrão do EPC)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Help: aplicação de administração do catálogo, para negócio e TI. Sequência oficial: tipos de objeto e atributos, especificação, oferta, pacote com cardinalidade, preço e promoção.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Projetos do EPC registram toda mudança (Add, Change, Delete) no projeto padrão; versionamento e ciclo de vida (atual, futuro, passado, aposentado) são nativos.</a:t>
            </a:r>
          </a:p>
        </p:txBody>
      </p:sp>
      <p:sp>
        <p:nvSpPr>
          <p:cNvPr id="4" name="Card"/>
          <p:cNvSpPr/>
          <p:nvPr/>
        </p:nvSpPr>
        <p:spPr>
          <a:xfrm>
            <a:off x="466344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DataPacks, IDX Workbench e Vlocity Build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Help do EPC: para mover de desenvolvimento para produção, usa-se Vlocity DataPacks e o IDX Workbench.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 IDX Workbench migra exatamente as mudanças de um Projeto do EPC em status Released; produtos não migram entre orgs por CSV.</a:t>
            </a:r>
          </a:p>
        </p:txBody>
      </p:sp>
      <p:sp>
        <p:nvSpPr>
          <p:cNvPr id="5" name="Card"/>
          <p:cNvSpPr/>
          <p:nvPr/>
        </p:nvSpPr>
        <p:spPr>
          <a:xfrm>
            <a:off x="45720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EPC REST APIs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CRUD oficial só de Product2, versão, filho, picklist e promoção. Não cobrem preço nem atributo: um carregador teria de gravar isso por fora, sem validação.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 algum dia um carregador for justificado, é sobre estas APIs, não gravando registros direto.</a:t>
            </a:r>
          </a:p>
        </p:txBody>
      </p:sp>
      <p:sp>
        <p:nvSpPr>
          <p:cNvPr id="6" name="Card"/>
          <p:cNvSpPr/>
          <p:nvPr/>
        </p:nvSpPr>
        <p:spPr>
          <a:xfrm>
            <a:off x="466344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Jobs pós-carga e Agentforce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manutenção (Help): Product Hierarchy Maintenance antes do Refresh Platform Cache; Full na carga, Incremental na manutenção; Clear Managed Platform Cache limpa a partição do CPQ. Nunca em produção ao vivo.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Agentforce pronto no pacote CME: ações e flows para o carrinho (cotação, pedido, navegar produtos, atributos, promoções). Agentforce for Communications: 5 agentes de venda e serviço. Nenhum cria catálogo.</a:t>
            </a:r>
          </a:p>
        </p:txBody>
      </p:sp>
      <p:sp>
        <p:nvSpPr>
          <p:cNvPr id="7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50.0" b="1" i="0" dirty="0">
                <a:solidFill>
                  <a:srgbClr val="FFFFFF"/>
                </a:solidFill>
                <a:latin typeface="Calibri"/>
                <a:cs typeface="Calibri"/>
              </a:rPr>
              <a:t>Atenção: a importação por CSV com templates DPE é do Revenue Cloud (Product Catalog Management), não do EPC do Communications Cloud.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1: template com conversor (wizard)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A equipe preenche a planilha e um código custom cria produto, estrutura, catálogo e preço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 custom: 2 a 3 semanas + testes  ·  Carga: 1 a 2 semanas após o conversor  ·  Manutenção do código a cada release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Escala para dezenas de variações da mesma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código, cardinalidade, preço e catálogo.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Arquivo aprovado antes de publicar: evidência de cada carga.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Existe precedente na comunidade (EPC on Steroids), o que mostra que é viável.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Reimplementa validações que o Product Designer já faz; as APIs oficiais nem cobrem preço e atributo, então o wizard gravaria isso direto na base.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Fora do suporte Salesforce; quebra silenciosa a cada atualização do pacote.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Não cria tipo de objeto, atributo ou regra nova: o especialista continua necessário.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congelar a modelagem durante o desenvolvimento e manter template e código sincronizados.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precedente da comunidade é um projeto pessoal, sem garantia.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Situação em 16/09: template entregue e validado; wizard em construção pela SysMap. Proposta: suspender o wizard.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2: interface padrão com migração por DataPacks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O analista cadastra em sandbox, valida no carrinho e publica em produção com ferramenta oficial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Desenvolvimento: nenhum  ·  Onda 1 (11 ofertas): 1 a 2 semanas  ·  Manutenção por oferta: horas, com procedimento do manual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Dependências validadas ao salvar: tipo de objeto, atributos herdados, cardinalidade, lista de preço.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Suportado pela Salesforce e alinhado às releases; sem código para manter.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 é a evidência e o versionamento da carga (pode ir para o Git).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Histórico nativo de alteração; correção pontual sem recarregar nada.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template continua útil: vira a planilha de levantamento e o roteiro de cadastro.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Tempo de analista treinado; não escala para centenas de ofertas de uma vez.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Consistência depende do procedimento escrito, não da ferramenta.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Jobs pós-carga precisam estar no checklist (ou disparados por API).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treinamento formal de duas pessoas no Product Designer.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Responde ao ponto do presidente: o problema são pessoas e manutenção; a resposta é procedimento, papéis e ferramenta padrão.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3: híbrido com Agentforce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possível, mas hoje é desenvolvimento custom com licença; cabe como assistente, não como autor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existe pronto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e flows prontos no pacote CME para operações de carrinho: criar cotação e pedido, navegar produtos, configurar atributos, aplicar promoções, sem Apex custom. Tudo consome o catálogo; nada o cria.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teria de ser construído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em Flow ou Apex sobre as EPC REST APIs (que não cobrem preço nem atributo), prompt templates, testes e guardrails. Volta a ser código custom.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Onde cabe bem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Explicar o manual, montar o checklist do evento, conferir a planilha de levantamento contra a org e validar o pós-carga. Sem publicar nada.</a:t>
            </a:r>
          </a:p>
        </p:txBody>
      </p:sp>
      <p:sp>
        <p:nvSpPr>
          <p:cNvPr id="6" name="Card"/>
          <p:cNvSpPr/>
          <p:nvPr/>
        </p:nvSpPr>
        <p:spPr>
          <a:xfrm>
            <a:off x="45720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ganho real e pronto é na venda: vendedor monta cotação e pedido pelo agente, sem Apex custom.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Como assistente da manutenção, padroniza o cadastro ao seguir o manual.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Publicação continua humana, em sandbox e com homologação.</a:t>
            </a:r>
          </a:p>
        </p:txBody>
      </p:sp>
      <p:sp>
        <p:nvSpPr>
          <p:cNvPr id="7" name="Card"/>
          <p:cNvSpPr/>
          <p:nvPr/>
        </p:nvSpPr>
        <p:spPr>
          <a:xfrm>
            <a:off x="466344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 e condições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Licença e consumo do Agentforce a avaliar com a Salesforce.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custom para escrever no catálogo: mesmo risco do wizard, mais a variabilidade do agente.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Só faz sentido depois do manual e de uma onda executada.</a:t>
            </a:r>
          </a:p>
        </p:txBody>
      </p:sp>
      <p:sp>
        <p:nvSpPr>
          <p:cNvPr id="8" name="Pill"/>
          <p:cNvSpPr/>
          <p:nvPr/>
        </p:nvSpPr>
        <p:spPr>
          <a:xfrm>
            <a:off x="457200" y="5760720"/>
            <a:ext cx="822960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Sequência: carga pela rota padrão e manual primeiro; fase 2 com Agentforce onde está pronto (carrinho) e como assistente do manual, se a licença compensar.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Comparativo das três opções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Mesmos critérios, lado a lado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201168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Critério</a:t>
            </a:r>
          </a:p>
        </p:txBody>
      </p:sp>
      <p:sp>
        <p:nvSpPr>
          <p:cNvPr id="4" name="Th"/>
          <p:cNvSpPr/>
          <p:nvPr/>
        </p:nvSpPr>
        <p:spPr>
          <a:xfrm>
            <a:off x="251460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Template + wizard</a:t>
            </a:r>
          </a:p>
        </p:txBody>
      </p:sp>
      <p:sp>
        <p:nvSpPr>
          <p:cNvPr id="5" name="Th"/>
          <p:cNvSpPr/>
          <p:nvPr/>
        </p:nvSpPr>
        <p:spPr>
          <a:xfrm>
            <a:off x="461772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Interface padrão + DataPacks</a:t>
            </a:r>
          </a:p>
        </p:txBody>
      </p:sp>
      <p:sp>
        <p:nvSpPr>
          <p:cNvPr id="6" name="Th"/>
          <p:cNvSpPr/>
          <p:nvPr/>
        </p:nvSpPr>
        <p:spPr>
          <a:xfrm>
            <a:off x="6720840" y="1143000"/>
            <a:ext cx="196596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Híbrido + Agentforce</a:t>
            </a:r>
          </a:p>
        </p:txBody>
      </p:sp>
      <p:sp>
        <p:nvSpPr>
          <p:cNvPr id="7" name="Td"/>
          <p:cNvSpPr/>
          <p:nvPr/>
        </p:nvSpPr>
        <p:spPr>
          <a:xfrm>
            <a:off x="457200" y="1627632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Código custom</a:t>
            </a:r>
          </a:p>
        </p:txBody>
      </p:sp>
      <p:sp>
        <p:nvSpPr>
          <p:cNvPr id="8" name="Td"/>
          <p:cNvSpPr/>
          <p:nvPr/>
        </p:nvSpPr>
        <p:spPr>
          <a:xfrm>
            <a:off x="251460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conversor e validações</a:t>
            </a:r>
          </a:p>
        </p:txBody>
      </p:sp>
      <p:sp>
        <p:nvSpPr>
          <p:cNvPr id="9" name="Td"/>
          <p:cNvSpPr/>
          <p:nvPr/>
        </p:nvSpPr>
        <p:spPr>
          <a:xfrm>
            <a:off x="461772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Nenhum</a:t>
            </a:r>
          </a:p>
        </p:txBody>
      </p:sp>
      <p:sp>
        <p:nvSpPr>
          <p:cNvPr id="10" name="Td"/>
          <p:cNvSpPr/>
          <p:nvPr/>
        </p:nvSpPr>
        <p:spPr>
          <a:xfrm>
            <a:off x="6720840" y="1627632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ações sobre as APIs</a:t>
            </a:r>
          </a:p>
        </p:txBody>
      </p:sp>
      <p:sp>
        <p:nvSpPr>
          <p:cNvPr id="11" name="Td"/>
          <p:cNvSpPr/>
          <p:nvPr/>
        </p:nvSpPr>
        <p:spPr>
          <a:xfrm>
            <a:off x="457200" y="2167128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Suporte Salesforce</a:t>
            </a:r>
          </a:p>
        </p:txBody>
      </p:sp>
      <p:sp>
        <p:nvSpPr>
          <p:cNvPr id="12" name="Td"/>
          <p:cNvSpPr/>
          <p:nvPr/>
        </p:nvSpPr>
        <p:spPr>
          <a:xfrm>
            <a:off x="251460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Fora do suporte</a:t>
            </a:r>
          </a:p>
        </p:txBody>
      </p:sp>
      <p:sp>
        <p:nvSpPr>
          <p:cNvPr id="13" name="Td"/>
          <p:cNvSpPr/>
          <p:nvPr/>
        </p:nvSpPr>
        <p:spPr>
          <a:xfrm>
            <a:off x="461772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Suportado</a:t>
            </a:r>
          </a:p>
        </p:txBody>
      </p:sp>
      <p:sp>
        <p:nvSpPr>
          <p:cNvPr id="14" name="Td"/>
          <p:cNvSpPr/>
          <p:nvPr/>
        </p:nvSpPr>
        <p:spPr>
          <a:xfrm>
            <a:off x="6720840" y="2167128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Plataforma suportada; ações não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2706624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 (11 ofertas)</a:t>
            </a:r>
          </a:p>
        </p:txBody>
      </p:sp>
      <p:sp>
        <p:nvSpPr>
          <p:cNvPr id="16" name="Td"/>
          <p:cNvSpPr/>
          <p:nvPr/>
        </p:nvSpPr>
        <p:spPr>
          <a:xfrm>
            <a:off x="251460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3 a 5 semanas (dev + carga)</a:t>
            </a:r>
          </a:p>
        </p:txBody>
      </p:sp>
      <p:sp>
        <p:nvSpPr>
          <p:cNvPr id="17" name="Td"/>
          <p:cNvSpPr/>
          <p:nvPr/>
        </p:nvSpPr>
        <p:spPr>
          <a:xfrm>
            <a:off x="461772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</a:t>
            </a:r>
          </a:p>
        </p:txBody>
      </p:sp>
      <p:sp>
        <p:nvSpPr>
          <p:cNvPr id="18" name="Td"/>
          <p:cNvSpPr/>
          <p:nvPr/>
        </p:nvSpPr>
        <p:spPr>
          <a:xfrm>
            <a:off x="6720840" y="2706624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 (mesma rota)</a:t>
            </a:r>
          </a:p>
        </p:txBody>
      </p:sp>
      <p:sp>
        <p:nvSpPr>
          <p:cNvPr id="19" name="Td"/>
          <p:cNvSpPr/>
          <p:nvPr/>
        </p:nvSpPr>
        <p:spPr>
          <a:xfrm>
            <a:off x="457200" y="3246120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Manutenção por oferta</a:t>
            </a:r>
          </a:p>
        </p:txBody>
      </p:sp>
      <p:sp>
        <p:nvSpPr>
          <p:cNvPr id="20" name="Td"/>
          <p:cNvSpPr/>
          <p:nvPr/>
        </p:nvSpPr>
        <p:spPr>
          <a:xfrm>
            <a:off x="251460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se o código estiver ok</a:t>
            </a:r>
          </a:p>
        </p:txBody>
      </p:sp>
      <p:sp>
        <p:nvSpPr>
          <p:cNvPr id="21" name="Td"/>
          <p:cNvSpPr/>
          <p:nvPr/>
        </p:nvSpPr>
        <p:spPr>
          <a:xfrm>
            <a:off x="461772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por procedimento</a:t>
            </a:r>
          </a:p>
        </p:txBody>
      </p:sp>
      <p:sp>
        <p:nvSpPr>
          <p:cNvPr id="22" name="Td"/>
          <p:cNvSpPr/>
          <p:nvPr/>
        </p:nvSpPr>
        <p:spPr>
          <a:xfrm>
            <a:off x="6720840" y="3246120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guiada pelo agente</a:t>
            </a:r>
          </a:p>
        </p:txBody>
      </p:sp>
      <p:sp>
        <p:nvSpPr>
          <p:cNvPr id="23" name="Td"/>
          <p:cNvSpPr/>
          <p:nvPr/>
        </p:nvSpPr>
        <p:spPr>
          <a:xfrm>
            <a:off x="457200" y="3785616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Dependência de especialista</a:t>
            </a:r>
          </a:p>
        </p:txBody>
      </p:sp>
      <p:sp>
        <p:nvSpPr>
          <p:cNvPr id="24" name="Td"/>
          <p:cNvSpPr/>
          <p:nvPr/>
        </p:nvSpPr>
        <p:spPr>
          <a:xfrm>
            <a:off x="251460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código e modelagem</a:t>
            </a:r>
          </a:p>
        </p:txBody>
      </p:sp>
      <p:sp>
        <p:nvSpPr>
          <p:cNvPr id="25" name="Td"/>
          <p:cNvSpPr/>
          <p:nvPr/>
        </p:nvSpPr>
        <p:spPr>
          <a:xfrm>
            <a:off x="461772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treinamento</a:t>
            </a:r>
          </a:p>
        </p:txBody>
      </p:sp>
      <p:sp>
        <p:nvSpPr>
          <p:cNvPr id="26" name="Td"/>
          <p:cNvSpPr/>
          <p:nvPr/>
        </p:nvSpPr>
        <p:spPr>
          <a:xfrm>
            <a:off x="6720840" y="3785616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Baixa na rotina</a:t>
            </a:r>
          </a:p>
        </p:txBody>
      </p:sp>
      <p:sp>
        <p:nvSpPr>
          <p:cNvPr id="27" name="Td"/>
          <p:cNvSpPr/>
          <p:nvPr/>
        </p:nvSpPr>
        <p:spPr>
          <a:xfrm>
            <a:off x="457200" y="4325112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Risco de erro de dependência</a:t>
            </a:r>
          </a:p>
        </p:txBody>
      </p:sp>
      <p:sp>
        <p:nvSpPr>
          <p:cNvPr id="28" name="Td"/>
          <p:cNvSpPr/>
          <p:nvPr/>
        </p:nvSpPr>
        <p:spPr>
          <a:xfrm>
            <a:off x="251460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Alto: aparece no carrinho</a:t>
            </a:r>
          </a:p>
        </p:txBody>
      </p:sp>
      <p:sp>
        <p:nvSpPr>
          <p:cNvPr id="29" name="Td"/>
          <p:cNvSpPr/>
          <p:nvPr/>
        </p:nvSpPr>
        <p:spPr>
          <a:xfrm>
            <a:off x="461772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Baixo: validado ao salvar</a:t>
            </a:r>
          </a:p>
        </p:txBody>
      </p:sp>
      <p:sp>
        <p:nvSpPr>
          <p:cNvPr id="30" name="Td"/>
          <p:cNvSpPr/>
          <p:nvPr/>
        </p:nvSpPr>
        <p:spPr>
          <a:xfrm>
            <a:off x="6720840" y="4325112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Baixo, se não publicar</a:t>
            </a:r>
          </a:p>
        </p:txBody>
      </p:sp>
      <p:sp>
        <p:nvSpPr>
          <p:cNvPr id="31" name="Td"/>
          <p:cNvSpPr/>
          <p:nvPr/>
        </p:nvSpPr>
        <p:spPr>
          <a:xfrm>
            <a:off x="457200" y="4864608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Evidência e auditoria</a:t>
            </a:r>
          </a:p>
        </p:txBody>
      </p:sp>
      <p:sp>
        <p:nvSpPr>
          <p:cNvPr id="32" name="Td"/>
          <p:cNvSpPr/>
          <p:nvPr/>
        </p:nvSpPr>
        <p:spPr>
          <a:xfrm>
            <a:off x="251460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Arquivo por carga</a:t>
            </a:r>
          </a:p>
        </p:txBody>
      </p:sp>
      <p:sp>
        <p:nvSpPr>
          <p:cNvPr id="33" name="Td"/>
          <p:cNvSpPr/>
          <p:nvPr/>
        </p:nvSpPr>
        <p:spPr>
          <a:xfrm>
            <a:off x="461772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histórico</a:t>
            </a:r>
          </a:p>
        </p:txBody>
      </p:sp>
      <p:sp>
        <p:nvSpPr>
          <p:cNvPr id="34" name="Td"/>
          <p:cNvSpPr/>
          <p:nvPr/>
        </p:nvSpPr>
        <p:spPr>
          <a:xfrm>
            <a:off x="6720840" y="4864608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registro do agente</a:t>
            </a:r>
          </a:p>
        </p:txBody>
      </p:sp>
      <p:sp>
        <p:nvSpPr>
          <p:cNvPr id="35" name="Td"/>
          <p:cNvSpPr/>
          <p:nvPr/>
        </p:nvSpPr>
        <p:spPr>
          <a:xfrm>
            <a:off x="457200" y="5404104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Custo adicional</a:t>
            </a:r>
          </a:p>
        </p:txBody>
      </p:sp>
      <p:sp>
        <p:nvSpPr>
          <p:cNvPr id="36" name="Td"/>
          <p:cNvSpPr/>
          <p:nvPr/>
        </p:nvSpPr>
        <p:spPr>
          <a:xfrm>
            <a:off x="251460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Desenvolvimento e manutenção</a:t>
            </a:r>
          </a:p>
        </p:txBody>
      </p:sp>
      <p:sp>
        <p:nvSpPr>
          <p:cNvPr id="37" name="Td"/>
          <p:cNvSpPr/>
          <p:nvPr/>
        </p:nvSpPr>
        <p:spPr>
          <a:xfrm>
            <a:off x="461772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 de analista</a:t>
            </a:r>
          </a:p>
        </p:txBody>
      </p:sp>
      <p:sp>
        <p:nvSpPr>
          <p:cNvPr id="38" name="Td"/>
          <p:cNvSpPr/>
          <p:nvPr/>
        </p:nvSpPr>
        <p:spPr>
          <a:xfrm>
            <a:off x="6720840" y="5404104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Licença Agentforce</a:t>
            </a:r>
          </a:p>
        </p:txBody>
      </p:sp>
      <p:sp>
        <p:nvSpPr>
          <p:cNvPr id="39" name="Pill"/>
          <p:cNvSpPr/>
          <p:nvPr/>
        </p:nvSpPr>
        <p:spPr>
          <a:xfrm>
            <a:off x="457200" y="5897880"/>
            <a:ext cx="8229600" cy="4114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FFFFFF"/>
                </a:solidFill>
                <a:latin typeface="Calibri"/>
                <a:cs typeface="Calibri"/>
              </a:rPr>
              <a:t>Prazos são estimativas de prática, a calibrar no piloto da Onda 1; a documentação não publica tempos.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Quanto tempo leva pela interface padrão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Estimativa por unidade; o total do catálogo sai do inventário do Customer Core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34290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Item</a:t>
            </a:r>
          </a:p>
        </p:txBody>
      </p:sp>
      <p:sp>
        <p:nvSpPr>
          <p:cNvPr id="4" name="Th"/>
          <p:cNvSpPr/>
          <p:nvPr/>
        </p:nvSpPr>
        <p:spPr>
          <a:xfrm>
            <a:off x="3931920" y="1143000"/>
            <a:ext cx="20116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Tempo por unidade</a:t>
            </a:r>
          </a:p>
        </p:txBody>
      </p:sp>
      <p:sp>
        <p:nvSpPr>
          <p:cNvPr id="5" name="Th"/>
          <p:cNvSpPr/>
          <p:nvPr/>
        </p:nvSpPr>
        <p:spPr>
          <a:xfrm>
            <a:off x="5989320" y="1143000"/>
            <a:ext cx="26974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Observação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581912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Base do EPC (tipos, atributos, listas de preço, regras)</a:t>
            </a:r>
          </a:p>
        </p:txBody>
      </p:sp>
      <p:sp>
        <p:nvSpPr>
          <p:cNvPr id="7" name="Td"/>
          <p:cNvSpPr/>
          <p:nvPr/>
        </p:nvSpPr>
        <p:spPr>
          <a:xfrm>
            <a:off x="3931920" y="1581912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Pronta</a:t>
            </a:r>
          </a:p>
        </p:txBody>
      </p:sp>
      <p:sp>
        <p:nvSpPr>
          <p:cNvPr id="8" name="Td"/>
          <p:cNvSpPr/>
          <p:nvPr/>
        </p:nvSpPr>
        <p:spPr>
          <a:xfrm>
            <a:off x="5989320" y="1581912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Já configurada; não entra na conta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066544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Produto simples (sem filhos)</a:t>
            </a:r>
          </a:p>
        </p:txBody>
      </p:sp>
      <p:sp>
        <p:nvSpPr>
          <p:cNvPr id="10" name="Td"/>
          <p:cNvSpPr/>
          <p:nvPr/>
        </p:nvSpPr>
        <p:spPr>
          <a:xfrm>
            <a:off x="3931920" y="2066544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20 a 40 min</a:t>
            </a:r>
          </a:p>
        </p:txBody>
      </p:sp>
      <p:sp>
        <p:nvSpPr>
          <p:cNvPr id="11" name="Td"/>
          <p:cNvSpPr/>
          <p:nvPr/>
        </p:nvSpPr>
        <p:spPr>
          <a:xfrm>
            <a:off x="5989320" y="2066544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Produto, atributos, preço, catálogo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551176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Pacote ou combo (3 a 6 componentes)</a:t>
            </a:r>
          </a:p>
        </p:txBody>
      </p:sp>
      <p:sp>
        <p:nvSpPr>
          <p:cNvPr id="13" name="Td"/>
          <p:cNvSpPr/>
          <p:nvPr/>
        </p:nvSpPr>
        <p:spPr>
          <a:xfrm>
            <a:off x="3931920" y="255117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 a 4 h</a:t>
            </a:r>
          </a:p>
        </p:txBody>
      </p:sp>
      <p:sp>
        <p:nvSpPr>
          <p:cNvPr id="14" name="Td"/>
          <p:cNvSpPr/>
          <p:nvPr/>
        </p:nvSpPr>
        <p:spPr>
          <a:xfrm>
            <a:off x="5989320" y="2551176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Estrutura, cardinalidade, preço por filho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035808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Promoção</a:t>
            </a:r>
          </a:p>
        </p:txBody>
      </p:sp>
      <p:sp>
        <p:nvSpPr>
          <p:cNvPr id="16" name="Td"/>
          <p:cNvSpPr/>
          <p:nvPr/>
        </p:nvSpPr>
        <p:spPr>
          <a:xfrm>
            <a:off x="3931920" y="3035808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 2 h</a:t>
            </a:r>
          </a:p>
        </p:txBody>
      </p:sp>
      <p:sp>
        <p:nvSpPr>
          <p:cNvPr id="17" name="Td"/>
          <p:cNvSpPr/>
          <p:nvPr/>
        </p:nvSpPr>
        <p:spPr>
          <a:xfrm>
            <a:off x="5989320" y="3035808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Regra de elegibilidade e desconto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520440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Teste no carrinho por família</a:t>
            </a:r>
          </a:p>
        </p:txBody>
      </p:sp>
      <p:sp>
        <p:nvSpPr>
          <p:cNvPr id="19" name="Td"/>
          <p:cNvSpPr/>
          <p:nvPr/>
        </p:nvSpPr>
        <p:spPr>
          <a:xfrm>
            <a:off x="3931920" y="352044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0" name="Td"/>
          <p:cNvSpPr/>
          <p:nvPr/>
        </p:nvSpPr>
        <p:spPr>
          <a:xfrm>
            <a:off x="5989320" y="3520440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Cenários de venda e de erro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005072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Migração por DataPack + jobs, por onda</a:t>
            </a:r>
          </a:p>
        </p:txBody>
      </p:sp>
      <p:sp>
        <p:nvSpPr>
          <p:cNvPr id="22" name="Td"/>
          <p:cNvSpPr/>
          <p:nvPr/>
        </p:nvSpPr>
        <p:spPr>
          <a:xfrm>
            <a:off x="3931920" y="4005072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3" name="Td"/>
          <p:cNvSpPr/>
          <p:nvPr/>
        </p:nvSpPr>
        <p:spPr>
          <a:xfrm>
            <a:off x="5989320" y="4005072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Sandbox para preprod e produção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489704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1: 11 ofertas e 16 componentes</a:t>
            </a:r>
          </a:p>
        </p:txBody>
      </p:sp>
      <p:sp>
        <p:nvSpPr>
          <p:cNvPr id="25" name="Td"/>
          <p:cNvSpPr/>
          <p:nvPr/>
        </p:nvSpPr>
        <p:spPr>
          <a:xfrm>
            <a:off x="3931920" y="448970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5 a 8 dias úteis</a:t>
            </a:r>
          </a:p>
        </p:txBody>
      </p:sp>
      <p:sp>
        <p:nvSpPr>
          <p:cNvPr id="26" name="Td"/>
          <p:cNvSpPr/>
          <p:nvPr/>
        </p:nvSpPr>
        <p:spPr>
          <a:xfrm>
            <a:off x="5989320" y="4489704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analista; 2 semanas com homologação</a:t>
            </a:r>
          </a:p>
        </p:txBody>
      </p:sp>
      <p:sp>
        <p:nvSpPr>
          <p:cNvPr id="27" name="Card"/>
          <p:cNvSpPr/>
          <p:nvPr/>
        </p:nvSpPr>
        <p:spPr>
          <a:xfrm>
            <a:off x="457200" y="5120640"/>
            <a:ext cx="8229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Como fechar o número do catálogo completo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Inventário no template: quantas ofertas simples, quantos pacotes, quantas promoções por família. Total = soma das unidades + 1 dia por família para teste e migração.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Hipótese: 60 ofertas (30 simples, 20 pacotes, 10 promoções) em 5 famílias = 4 a 6 semanas com 1 analista, 2 a 3 semanas com 2.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Antecipar a carga: execução em ondas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Começa na semana 1, sem esperar conversor; cada onda entrega algo utilizável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143000"/>
            <a:ext cx="1965960" cy="45720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0  ·  Semana 1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B7A4E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Congelar a modelagem v3 e fechar as pendências P1 e P2 com o comercial.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Inventário das ofertas do Customer Core no template (levantamento).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Treinar duas pessoas no Product Designer.</a:t>
            </a:r>
          </a:p>
        </p:txBody>
      </p:sp>
      <p:sp>
        <p:nvSpPr>
          <p:cNvPr id="5" name="Pill"/>
          <p:cNvSpPr/>
          <p:nvPr/>
        </p:nvSpPr>
        <p:spPr>
          <a:xfrm>
            <a:off x="256032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1  ·  Semanas 1 e 2</a:t>
            </a:r>
          </a:p>
        </p:txBody>
      </p:sp>
      <p:sp>
        <p:nvSpPr>
          <p:cNvPr id="6" name="Card"/>
          <p:cNvSpPr/>
          <p:nvPr/>
        </p:nvSpPr>
        <p:spPr>
          <a:xfrm>
            <a:off x="256032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Projeto do EPC da onda aberto como padrão; 11 ofertas de conectividade cadastradas em sandbox.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Teste no carrinho por família; projeto Released e exportado.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Checklist de jobs pós-carga validado.</a:t>
            </a:r>
          </a:p>
        </p:txBody>
      </p:sp>
      <p:sp>
        <p:nvSpPr>
          <p:cNvPr id="7" name="Pill"/>
          <p:cNvSpPr/>
          <p:nvPr/>
        </p:nvSpPr>
        <p:spPr>
          <a:xfrm>
            <a:off x="466344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2  ·  Semanas 2 a 4</a:t>
            </a:r>
          </a:p>
        </p:txBody>
      </p:sp>
      <p:sp>
        <p:nvSpPr>
          <p:cNvPr id="8" name="Card"/>
          <p:cNvSpPr/>
          <p:nvPr/>
        </p:nvSpPr>
        <p:spPr>
          <a:xfrm>
            <a:off x="466344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Demais famílias em sandbox, uma por vez, pelo mesmo procedimento.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Homologação do comercial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Manual de configuração revisado com quem operou.</a:t>
            </a:r>
          </a:p>
        </p:txBody>
      </p:sp>
      <p:sp>
        <p:nvSpPr>
          <p:cNvPr id="9" name="Pill"/>
          <p:cNvSpPr/>
          <p:nvPr/>
        </p:nvSpPr>
        <p:spPr>
          <a:xfrm>
            <a:off x="6766560" y="1143000"/>
            <a:ext cx="196596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3  ·  Semanas 4 e 5</a:t>
            </a:r>
          </a:p>
        </p:txBody>
      </p:sp>
      <p:sp>
        <p:nvSpPr>
          <p:cNvPr id="10" name="Card"/>
          <p:cNvSpPr/>
          <p:nvPr/>
        </p:nvSpPr>
        <p:spPr>
          <a:xfrm>
            <a:off x="676656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F3864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Publicação em preprod e produção pelo IDX Workbench a partir dos projetos Released, jobs na ordem, em janela.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Treinamento do time e entrega do manual.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Decisão sobre a fase 2 do Agentforce.</a:t>
            </a:r>
          </a:p>
        </p:txBody>
      </p:sp>
      <p:sp>
        <p:nvSpPr>
          <p:cNvPr id="11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Ganho: a conectividade entra em produção em 4 a 5 semanas e o resto segue pelo mesmo trilho. Calendário a validar com a SysMap na sprint 1 (15 a 26/09).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Segurança para decidir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Seis garantias da rota padrão</a:t>
            </a:r>
          </a:p>
        </p:txBody>
      </p:sp>
      <p:sp>
        <p:nvSpPr>
          <p:cNvPr id="3" name="Num"/>
          <p:cNvSpPr/>
          <p:nvPr/>
        </p:nvSpPr>
        <p:spPr>
          <a:xfrm>
            <a:off x="59436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4" name="Box"/>
          <p:cNvSpPr/>
          <p:nvPr/>
        </p:nvSpPr>
        <p:spPr>
          <a:xfrm>
            <a:off x="45720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5" name="Txt"/>
          <p:cNvSpPr txBox="1"/>
          <p:nvPr/>
        </p:nvSpPr>
        <p:spPr>
          <a:xfrm>
            <a:off x="109728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Ferramenta padrão, suportada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Product Designer e DataPacks são os caminhos documentados pela Salesforce; nada depende de código nosso.</a:t>
            </a:r>
          </a:p>
        </p:txBody>
      </p:sp>
      <p:sp>
        <p:nvSpPr>
          <p:cNvPr id="6" name="Num"/>
          <p:cNvSpPr/>
          <p:nvPr/>
        </p:nvSpPr>
        <p:spPr>
          <a:xfrm>
            <a:off x="480060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" name="Box"/>
          <p:cNvSpPr/>
          <p:nvPr/>
        </p:nvSpPr>
        <p:spPr>
          <a:xfrm>
            <a:off x="466344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8" name="Txt"/>
          <p:cNvSpPr txBox="1"/>
          <p:nvPr/>
        </p:nvSpPr>
        <p:spPr>
          <a:xfrm>
            <a:off x="530352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Validação ao salvar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Tipo de objeto, atributos, cardinalidade e preço são conferidos pela interface antes de existir a oferta.</a:t>
            </a:r>
          </a:p>
        </p:txBody>
      </p:sp>
      <p:sp>
        <p:nvSpPr>
          <p:cNvPr id="9" name="Num"/>
          <p:cNvSpPr/>
          <p:nvPr/>
        </p:nvSpPr>
        <p:spPr>
          <a:xfrm>
            <a:off x="59436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0" name="Box"/>
          <p:cNvSpPr/>
          <p:nvPr/>
        </p:nvSpPr>
        <p:spPr>
          <a:xfrm>
            <a:off x="45720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1" name="Txt"/>
          <p:cNvSpPr txBox="1"/>
          <p:nvPr/>
        </p:nvSpPr>
        <p:spPr>
          <a:xfrm>
            <a:off x="109728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Sandbox antes de produção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Toda oferta nasce em sandbox, é testada no carrinho e só então migra, pelo IDX Workbench, a partir do projeto Released.</a:t>
            </a:r>
          </a:p>
        </p:txBody>
      </p:sp>
      <p:sp>
        <p:nvSpPr>
          <p:cNvPr id="12" name="Num"/>
          <p:cNvSpPr/>
          <p:nvPr/>
        </p:nvSpPr>
        <p:spPr>
          <a:xfrm>
            <a:off x="480060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3" name="Box"/>
          <p:cNvSpPr/>
          <p:nvPr/>
        </p:nvSpPr>
        <p:spPr>
          <a:xfrm>
            <a:off x="466344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4" name="Txt"/>
          <p:cNvSpPr txBox="1"/>
          <p:nvPr/>
        </p:nvSpPr>
        <p:spPr>
          <a:xfrm>
            <a:off x="530352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Evidência e versionamento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 projeto do EPC lista cada item alterado (Add, Change, Delete); o DataPack de cada onda fica guardado; versionamento é nativo.</a:t>
            </a:r>
          </a:p>
        </p:txBody>
      </p:sp>
      <p:sp>
        <p:nvSpPr>
          <p:cNvPr id="15" name="Num"/>
          <p:cNvSpPr/>
          <p:nvPr/>
        </p:nvSpPr>
        <p:spPr>
          <a:xfrm>
            <a:off x="59436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6" name="Box"/>
          <p:cNvSpPr/>
          <p:nvPr/>
        </p:nvSpPr>
        <p:spPr>
          <a:xfrm>
            <a:off x="45720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7" name="Txt"/>
          <p:cNvSpPr txBox="1"/>
          <p:nvPr/>
        </p:nvSpPr>
        <p:spPr>
          <a:xfrm>
            <a:off x="109728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Pós-carga em janela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Product Hierarchy Maintenance e Refresh Platform Cache na ordem documentada, em janela fora do horário de venda: a Help manda não rodar jobs em produção ao vivo.</a:t>
            </a:r>
          </a:p>
        </p:txBody>
      </p:sp>
      <p:sp>
        <p:nvSpPr>
          <p:cNvPr id="18" name="Num"/>
          <p:cNvSpPr/>
          <p:nvPr/>
        </p:nvSpPr>
        <p:spPr>
          <a:xfrm>
            <a:off x="480060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19" name="Box"/>
          <p:cNvSpPr/>
          <p:nvPr/>
        </p:nvSpPr>
        <p:spPr>
          <a:xfrm>
            <a:off x="466344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20" name="Txt"/>
          <p:cNvSpPr txBox="1"/>
          <p:nvPr/>
        </p:nvSpPr>
        <p:spPr>
          <a:xfrm>
            <a:off x="530352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Reversibilidade e donos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errada é aposentada pelo ciclo de vida, não excluída; cada etapa tem dono e substituto nomeados.</a:t>
            </a:r>
          </a:p>
        </p:txBody>
      </p:sp>
      <p:sp>
        <p:nvSpPr>
          <p:cNvPr id="21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mesmo método já usado no projeto: validar antes, executar, conferir depois, registrar no diário.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Manual de configuração do catálogo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Um procedimento por evento: o que fazer, quem faz, quem aprova, o que conferir</a:t>
            </a:r>
          </a:p>
        </p:txBody>
      </p:sp>
      <p:sp>
        <p:nvSpPr>
          <p:cNvPr id="3" name="Proc"/>
          <p:cNvSpPr/>
          <p:nvPr/>
        </p:nvSpPr>
        <p:spPr>
          <a:xfrm>
            <a:off x="457200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Produto novo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tipo de objeto + oferta</a:t>
            </a:r>
          </a:p>
        </p:txBody>
      </p:sp>
      <p:sp>
        <p:nvSpPr>
          <p:cNvPr id="4" name="Proc"/>
          <p:cNvSpPr/>
          <p:nvPr/>
        </p:nvSpPr>
        <p:spPr>
          <a:xfrm>
            <a:off x="2139696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Pacote ou combo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estrutura e cardinalidade</a:t>
            </a:r>
          </a:p>
        </p:txBody>
      </p:sp>
      <p:sp>
        <p:nvSpPr>
          <p:cNvPr id="5" name="Proc"/>
          <p:cNvSpPr/>
          <p:nvPr/>
        </p:nvSpPr>
        <p:spPr>
          <a:xfrm>
            <a:off x="3822192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Promoção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promoção no pacote</a:t>
            </a:r>
          </a:p>
        </p:txBody>
      </p:sp>
      <p:sp>
        <p:nvSpPr>
          <p:cNvPr id="6" name="Proc"/>
          <p:cNvSpPr/>
          <p:nvPr/>
        </p:nvSpPr>
        <p:spPr>
          <a:xfrm>
            <a:off x="5504688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Alteração de preço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Pricing Designer</a:t>
            </a:r>
          </a:p>
        </p:txBody>
      </p:sp>
      <p:sp>
        <p:nvSpPr>
          <p:cNvPr id="7" name="Proc"/>
          <p:cNvSpPr/>
          <p:nvPr/>
        </p:nvSpPr>
        <p:spPr>
          <a:xfrm>
            <a:off x="7187184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Descontinuação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ciclo de vida: aposentar</a:t>
            </a:r>
          </a:p>
        </p:txBody>
      </p:sp>
      <p:sp>
        <p:nvSpPr>
          <p:cNvPr id="8" name="Card"/>
          <p:cNvSpPr/>
          <p:nvPr/>
        </p:nvSpPr>
        <p:spPr>
          <a:xfrm>
            <a:off x="45720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Cada procedimento tem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Pré-requisitos: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aprovada pelo comercial, códigos e preços na planilha de levantamento; projeto do EPC do evento aberto e definido como padrão.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Quem cadastra e quem aprova: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nomes, não áreas.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Passo a passo com telas: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sequência exata no Product Designer, campo a campo.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Pós-carga: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Product Hierarchy Maintenance e Refresh Platform Cache (Incremental) em janela; roteiro de teste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Evidência: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projeto do EPC Released e migrado pelo IDX, resultado do teste e registro no diário.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Anexos do manual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Dicionário de códigos: catálogos, categorias, picklists e atributos.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Planilha de levantamento (o template) preenchida por tipo de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Calendário: janela mensal de manutenção e 3 a 4 cargas por ano.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Erros comuns e como corrigir (oferta não aparece no carrinho, job não executado, preço errado, vírgula em valor de picklist).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Roteiro do Agentforce, quando entrar: o que faz e o que sempre pede aprovação.</a:t>
            </a:r>
          </a:p>
        </p:txBody>
      </p:sp>
      <p:sp>
        <p:nvSpPr>
          <p:cNvPr id="10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Entrega: rascunho na Onda 2, versão final e treinamento na Onda 3. Mantido pela governança Salesforce a cada mudança de modelagem.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Pessoas e rotina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Quem faz o quê, para o catálogo não depender de uma pessoa só</a:t>
            </a:r>
          </a:p>
        </p:txBody>
      </p:sp>
      <p:sp>
        <p:nvSpPr>
          <p:cNvPr id="3" name="Role"/>
          <p:cNvSpPr/>
          <p:nvPr/>
        </p:nvSpPr>
        <p:spPr>
          <a:xfrm>
            <a:off x="457200" y="1143000"/>
            <a:ext cx="2377440" cy="758952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Dono do catálogo (Comercial)</a:t>
            </a:r>
          </a:p>
        </p:txBody>
      </p:sp>
      <p:sp>
        <p:nvSpPr>
          <p:cNvPr id="4" name="Desc"/>
          <p:cNvSpPr/>
          <p:nvPr/>
        </p:nvSpPr>
        <p:spPr>
          <a:xfrm>
            <a:off x="2926080" y="1143000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Define e aprova ofertas, preços e promoções; responde às pendências de negócio; assina a homologação no carrinho.</a:t>
            </a:r>
          </a:p>
        </p:txBody>
      </p:sp>
      <p:sp>
        <p:nvSpPr>
          <p:cNvPr id="5" name="Role"/>
          <p:cNvSpPr/>
          <p:nvPr/>
        </p:nvSpPr>
        <p:spPr>
          <a:xfrm>
            <a:off x="457200" y="1993392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Analistas de catálogo (2 pessoas)</a:t>
            </a:r>
          </a:p>
        </p:txBody>
      </p:sp>
      <p:sp>
        <p:nvSpPr>
          <p:cNvPr id="6" name="Desc"/>
          <p:cNvSpPr/>
          <p:nvPr/>
        </p:nvSpPr>
        <p:spPr>
          <a:xfrm>
            <a:off x="2926080" y="1993392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Cadastram no Product Designer pelo manual; exportam o DataPack; rodam o checklist pós-carga.</a:t>
            </a:r>
          </a:p>
        </p:txBody>
      </p:sp>
      <p:sp>
        <p:nvSpPr>
          <p:cNvPr id="7" name="Role"/>
          <p:cNvSpPr/>
          <p:nvPr/>
        </p:nvSpPr>
        <p:spPr>
          <a:xfrm>
            <a:off x="457200" y="2843784"/>
            <a:ext cx="2377440" cy="758952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Governança Salesforce (BTP)</a:t>
            </a:r>
          </a:p>
        </p:txBody>
      </p:sp>
      <p:sp>
        <p:nvSpPr>
          <p:cNvPr id="8" name="Desc"/>
          <p:cNvSpPr/>
          <p:nvPr/>
        </p:nvSpPr>
        <p:spPr>
          <a:xfrm>
            <a:off x="2926080" y="2843784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Valida o levantamento contra a org, aprova a publicação, mantém o manual e o diário de cargas.</a:t>
            </a:r>
          </a:p>
        </p:txBody>
      </p:sp>
      <p:sp>
        <p:nvSpPr>
          <p:cNvPr id="9" name="Role"/>
          <p:cNvSpPr/>
          <p:nvPr/>
        </p:nvSpPr>
        <p:spPr>
          <a:xfrm>
            <a:off x="457200" y="3694176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SysMap (projeto)</a:t>
            </a:r>
          </a:p>
        </p:txBody>
      </p:sp>
      <p:sp>
        <p:nvSpPr>
          <p:cNvPr id="10" name="Desc"/>
          <p:cNvSpPr/>
          <p:nvPr/>
        </p:nvSpPr>
        <p:spPr>
          <a:xfrm>
            <a:off x="2926080" y="3694176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Modelagem nova (tipo, atributo, regra), migração das ondas e correções em produção sob demanda.</a:t>
            </a:r>
          </a:p>
        </p:txBody>
      </p:sp>
      <p:sp>
        <p:nvSpPr>
          <p:cNvPr id="11" name="Role"/>
          <p:cNvSpPr/>
          <p:nvPr/>
        </p:nvSpPr>
        <p:spPr>
          <a:xfrm>
            <a:off x="457200" y="4544568"/>
            <a:ext cx="2377440" cy="758952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Agentforce (fase 2)</a:t>
            </a:r>
          </a:p>
        </p:txBody>
      </p:sp>
      <p:sp>
        <p:nvSpPr>
          <p:cNvPr id="12" name="Desc"/>
          <p:cNvSpPr/>
          <p:nvPr/>
        </p:nvSpPr>
        <p:spPr>
          <a:xfrm>
            <a:off x="2926080" y="4544568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791F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Vendedor: cotação e pedido pelo carrinho, pronto no pacote. Catálogo: explica o manual, monta checklist, confere pós-carga. Nunca publica.</a:t>
            </a:r>
          </a:p>
        </p:txBody>
      </p:sp>
      <p:sp>
        <p:nvSpPr>
          <p:cNvPr id="13" name="Pill"/>
          <p:cNvSpPr/>
          <p:nvPr/>
        </p:nvSpPr>
        <p:spPr>
          <a:xfrm>
            <a:off x="457200" y="5486400"/>
            <a:ext cx="8229600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Rotina proposta: reunião de catálogo quinzenal de 30 minutos (comercial + governança + SysMap); janela mensal de manutenção; toda carga com dono, substituto e evidência.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Recomendação e próximos passos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Rota padrão para a carga, manual e papéis para a manutenção, Agentforce como apoio em fase 2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Ação</a:t>
            </a:r>
          </a:p>
        </p:txBody>
      </p:sp>
      <p:sp>
        <p:nvSpPr>
          <p:cNvPr id="4" name="Th"/>
          <p:cNvSpPr/>
          <p:nvPr/>
        </p:nvSpPr>
        <p:spPr>
          <a:xfrm>
            <a:off x="4709160" y="1143000"/>
            <a:ext cx="21945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Responsável</a:t>
            </a:r>
          </a:p>
        </p:txBody>
      </p:sp>
      <p:sp>
        <p:nvSpPr>
          <p:cNvPr id="5" name="Th"/>
          <p:cNvSpPr/>
          <p:nvPr/>
        </p:nvSpPr>
        <p:spPr>
          <a:xfrm>
            <a:off x="6949440" y="1143000"/>
            <a:ext cx="17373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Quando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600200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1. Aprovar a rota padrão e o calendário em ondas; suspender o wizard</a:t>
            </a:r>
          </a:p>
        </p:txBody>
      </p:sp>
      <p:sp>
        <p:nvSpPr>
          <p:cNvPr id="7" name="Td"/>
          <p:cNvSpPr/>
          <p:nvPr/>
        </p:nvSpPr>
        <p:spPr>
          <a:xfrm>
            <a:off x="4709160" y="1600200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</a:t>
            </a:r>
          </a:p>
        </p:txBody>
      </p:sp>
      <p:sp>
        <p:nvSpPr>
          <p:cNvPr id="8" name="Td"/>
          <p:cNvSpPr/>
          <p:nvPr/>
        </p:nvSpPr>
        <p:spPr>
          <a:xfrm>
            <a:off x="6949440" y="1600200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130552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2. Nomear o dono do catálogo e os dois analistas</a:t>
            </a:r>
          </a:p>
        </p:txBody>
      </p:sp>
      <p:sp>
        <p:nvSpPr>
          <p:cNvPr id="10" name="Td"/>
          <p:cNvSpPr/>
          <p:nvPr/>
        </p:nvSpPr>
        <p:spPr>
          <a:xfrm>
            <a:off x="4709160" y="2130552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 e Comercial</a:t>
            </a:r>
          </a:p>
        </p:txBody>
      </p:sp>
      <p:sp>
        <p:nvSpPr>
          <p:cNvPr id="11" name="Td"/>
          <p:cNvSpPr/>
          <p:nvPr/>
        </p:nvSpPr>
        <p:spPr>
          <a:xfrm>
            <a:off x="6949440" y="2130552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660904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3. Fechar P1 e P2 (prazo e valores dos adicionais)</a:t>
            </a:r>
          </a:p>
        </p:txBody>
      </p:sp>
      <p:sp>
        <p:nvSpPr>
          <p:cNvPr id="13" name="Td"/>
          <p:cNvSpPr/>
          <p:nvPr/>
        </p:nvSpPr>
        <p:spPr>
          <a:xfrm>
            <a:off x="4709160" y="2660904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Comercial (Joel)</a:t>
            </a:r>
          </a:p>
        </p:txBody>
      </p:sp>
      <p:sp>
        <p:nvSpPr>
          <p:cNvPr id="14" name="Td"/>
          <p:cNvSpPr/>
          <p:nvPr/>
        </p:nvSpPr>
        <p:spPr>
          <a:xfrm>
            <a:off x="6949440" y="2660904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191256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4. Inventário das ofertas no template e treinamento no Product Designer</a:t>
            </a:r>
          </a:p>
        </p:txBody>
      </p:sp>
      <p:sp>
        <p:nvSpPr>
          <p:cNvPr id="16" name="Td"/>
          <p:cNvSpPr/>
          <p:nvPr/>
        </p:nvSpPr>
        <p:spPr>
          <a:xfrm>
            <a:off x="4709160" y="3191256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com SysMap</a:t>
            </a:r>
          </a:p>
        </p:txBody>
      </p:sp>
      <p:sp>
        <p:nvSpPr>
          <p:cNvPr id="17" name="Td"/>
          <p:cNvSpPr/>
          <p:nvPr/>
        </p:nvSpPr>
        <p:spPr>
          <a:xfrm>
            <a:off x="6949440" y="3191256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721608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5. Onda 1: conectividade em sandbox, teste no carrinho, DataPack</a:t>
            </a:r>
          </a:p>
        </p:txBody>
      </p:sp>
      <p:sp>
        <p:nvSpPr>
          <p:cNvPr id="19" name="Td"/>
          <p:cNvSpPr/>
          <p:nvPr/>
        </p:nvSpPr>
        <p:spPr>
          <a:xfrm>
            <a:off x="4709160" y="3721608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Analistas com SysMap</a:t>
            </a:r>
          </a:p>
        </p:txBody>
      </p:sp>
      <p:sp>
        <p:nvSpPr>
          <p:cNvPr id="20" name="Td"/>
          <p:cNvSpPr/>
          <p:nvPr/>
        </p:nvSpPr>
        <p:spPr>
          <a:xfrm>
            <a:off x="6949440" y="3721608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1 e 2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251960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6. Manual de configuração e treinamento</a:t>
            </a:r>
          </a:p>
        </p:txBody>
      </p:sp>
      <p:sp>
        <p:nvSpPr>
          <p:cNvPr id="22" name="Td"/>
          <p:cNvSpPr/>
          <p:nvPr/>
        </p:nvSpPr>
        <p:spPr>
          <a:xfrm>
            <a:off x="4709160" y="4251960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Salesforce</a:t>
            </a:r>
          </a:p>
        </p:txBody>
      </p:sp>
      <p:sp>
        <p:nvSpPr>
          <p:cNvPr id="23" name="Td"/>
          <p:cNvSpPr/>
          <p:nvPr/>
        </p:nvSpPr>
        <p:spPr>
          <a:xfrm>
            <a:off x="6949440" y="4251960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2 a 5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782312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7. Avaliar licença e escopo do piloto do Agentforce</a:t>
            </a:r>
          </a:p>
        </p:txBody>
      </p:sp>
      <p:sp>
        <p:nvSpPr>
          <p:cNvPr id="25" name="Td"/>
          <p:cNvSpPr/>
          <p:nvPr/>
        </p:nvSpPr>
        <p:spPr>
          <a:xfrm>
            <a:off x="4709160" y="4782312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Gerson com a Salesforce</a:t>
            </a:r>
          </a:p>
        </p:txBody>
      </p:sp>
      <p:sp>
        <p:nvSpPr>
          <p:cNvPr id="26" name="Td"/>
          <p:cNvSpPr/>
          <p:nvPr/>
        </p:nvSpPr>
        <p:spPr>
          <a:xfrm>
            <a:off x="6949440" y="4782312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a Onda 1</a:t>
            </a:r>
          </a:p>
        </p:txBody>
      </p:sp>
      <p:sp>
        <p:nvSpPr>
          <p:cNvPr id="27" name="Pill"/>
          <p:cNvSpPr/>
          <p:nvPr/>
        </p:nvSpPr>
        <p:spPr>
          <a:xfrm>
            <a:off x="457200" y="5486400"/>
            <a:ext cx="8229600" cy="7772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que a presidência ganha: a conectividade publicada em 4 a 5 semanas sem código custom, um catálogo que dois analistas treinados mantêm pelo manual, e a opção de reduzir ainda mais a dependência de pessoas com o agente, sem perder o controle da publicação.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639</Words>
  <Application>Microsoft Office PowerPoint</Application>
  <PresentationFormat>Apresentação na tela (4:3)</PresentationFormat>
  <Paragraphs>61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 Israel de Abreu</cp:lastModifiedBy>
  <cp:revision>3</cp:revision>
  <dcterms:created xsi:type="dcterms:W3CDTF">2013-01-27T09:14:16Z</dcterms:created>
  <dcterms:modified xsi:type="dcterms:W3CDTF">2026-09-15T19:06:54Z</dcterms:modified>
  <cp:category/>
</cp:coreProperties>
</file>