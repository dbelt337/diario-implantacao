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3400" b="1" i="0" dirty="0">
                <a:solidFill>
                  <a:srgbClr val="FFFFFF"/>
                </a:solidFill>
                <a:latin typeface="Calibri"/>
                <a:cs typeface="Calibri"/>
              </a:rPr>
              <a:t>Catálogo comercial no SFA:</a:t>
            </a:r>
          </a:p>
          <a:p>
            <a:pPr algn="l">
              <a:spcAft>
                <a:spcPts val="0"/>
              </a:spcAft>
              <a:buNone/>
            </a:pPr>
            <a:r>
              <a:rPr lang="pt-BR" sz="3400" b="1" i="0" dirty="0">
                <a:solidFill>
                  <a:srgbClr val="FFFFFF"/>
                </a:solidFill>
                <a:latin typeface="Calibri"/>
                <a:cs typeface="Calibri"/>
              </a:rPr>
              <a:t>carga e manutenção</a:t>
            </a:r>
          </a:p>
        </p:txBody>
      </p:sp>
      <p:sp>
        <p:nvSpPr>
          <p:cNvPr id="3" name="S"/>
          <p:cNvSpPr txBox="1"/>
          <p:nvPr/>
        </p:nvSpPr>
        <p:spPr>
          <a:xfrm>
            <a:off x="640080" y="28803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800" b="0" i="0" dirty="0">
                <a:solidFill>
                  <a:srgbClr val="D9E2F3"/>
                </a:solidFill>
                <a:latin typeface="Calibri"/>
                <a:cs typeface="Calibri"/>
              </a:rPr>
              <a:t>O negócio preenche o template. O Claude lê e executa a carga na sandbox via CLI. Pessoas homologam e publicam.</a:t>
            </a:r>
          </a:p>
        </p:txBody>
      </p:sp>
      <p:sp>
        <p:nvSpPr>
          <p:cNvPr id="4" name="S2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D9E2F3"/>
                </a:solidFill>
                <a:latin typeface="Calibri"/>
                <a:cs typeface="Calibri"/>
              </a:rPr>
              <a:t>Proposta para decisão da presidência</a:t>
            </a:r>
          </a:p>
        </p:txBody>
      </p:sp>
      <p:sp>
        <p:nvSpPr>
          <p:cNvPr id="5" name="F"/>
          <p:cNvSpPr txBox="1"/>
          <p:nvPr/>
        </p:nvSpPr>
        <p:spPr>
          <a:xfrm>
            <a:off x="640080" y="56692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D9E2F3"/>
                </a:solidFill>
                <a:latin typeface="Calibri"/>
                <a:cs typeface="Calibri"/>
              </a:rPr>
              <a:t>Brasil TecPar | SysMap | Catálogo EPC (Vlocity) |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Como funciona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Um artefato de negócio (o template) e um executor (o Claude conectado à org)</a:t>
            </a:r>
          </a:p>
        </p:txBody>
      </p:sp>
      <p:sp>
        <p:nvSpPr>
          <p:cNvPr id="3" name="Num"/>
          <p:cNvSpPr/>
          <p:nvPr/>
        </p:nvSpPr>
        <p:spPr>
          <a:xfrm>
            <a:off x="1024128" y="1188720"/>
            <a:ext cx="45720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" name="Step"/>
          <p:cNvSpPr/>
          <p:nvPr/>
        </p:nvSpPr>
        <p:spPr>
          <a:xfrm>
            <a:off x="457200" y="1783080"/>
            <a:ext cx="1591056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250" b="1" i="0" dirty="0">
                <a:solidFill>
                  <a:srgbClr val="1B7A4E"/>
                </a:solidFill>
                <a:latin typeface="Calibri"/>
                <a:cs typeface="Calibri"/>
              </a:rPr>
              <a:t>Negócio preenche o template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444444"/>
                </a:solidFill>
                <a:latin typeface="Calibri"/>
                <a:cs typeface="Calibri"/>
              </a:rPr>
              <a:t>Planilha com ofertas, componentes, atributos e preços, nos códigos da org.</a:t>
            </a:r>
          </a:p>
        </p:txBody>
      </p:sp>
      <p:sp>
        <p:nvSpPr>
          <p:cNvPr id="5" name="Arrow"/>
          <p:cNvSpPr/>
          <p:nvPr/>
        </p:nvSpPr>
        <p:spPr>
          <a:xfrm>
            <a:off x="2066544" y="3246120"/>
            <a:ext cx="91440" cy="274320"/>
          </a:xfrm>
          <a:prstGeom prst="rightArrow">
            <a:avLst/>
          </a:prstGeom>
          <a:solidFill>
            <a:srgbClr val="1B7A4E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pt-BR"/>
          </a:p>
        </p:txBody>
      </p:sp>
      <p:sp>
        <p:nvSpPr>
          <p:cNvPr id="6" name="Num"/>
          <p:cNvSpPr/>
          <p:nvPr/>
        </p:nvSpPr>
        <p:spPr>
          <a:xfrm>
            <a:off x="2724912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Step"/>
          <p:cNvSpPr/>
          <p:nvPr/>
        </p:nvSpPr>
        <p:spPr>
          <a:xfrm>
            <a:off x="2157984" y="1783080"/>
            <a:ext cx="1591056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250" b="1" i="0" dirty="0">
                <a:solidFill>
                  <a:srgbClr val="2E75B6"/>
                </a:solidFill>
                <a:latin typeface="Calibri"/>
                <a:cs typeface="Calibri"/>
              </a:rPr>
              <a:t>Claude lê e confere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444444"/>
                </a:solidFill>
                <a:latin typeface="Calibri"/>
                <a:cs typeface="Calibri"/>
              </a:rPr>
              <a:t>Valida o template contra a org antes de gravar: códigos, tipos, cardinalidade, preços. Erro volta para a planilha.</a:t>
            </a:r>
          </a:p>
        </p:txBody>
      </p:sp>
      <p:sp>
        <p:nvSpPr>
          <p:cNvPr id="8" name="Arrow"/>
          <p:cNvSpPr/>
          <p:nvPr/>
        </p:nvSpPr>
        <p:spPr>
          <a:xfrm>
            <a:off x="3767328" y="3246120"/>
            <a:ext cx="91440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pt-BR"/>
          </a:p>
        </p:txBody>
      </p:sp>
      <p:sp>
        <p:nvSpPr>
          <p:cNvPr id="9" name="Num"/>
          <p:cNvSpPr/>
          <p:nvPr/>
        </p:nvSpPr>
        <p:spPr>
          <a:xfrm>
            <a:off x="4425696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" name="Step"/>
          <p:cNvSpPr/>
          <p:nvPr/>
        </p:nvSpPr>
        <p:spPr>
          <a:xfrm>
            <a:off x="3858768" y="1783080"/>
            <a:ext cx="1591056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250" b="1" i="0" dirty="0">
                <a:solidFill>
                  <a:srgbClr val="2E75B6"/>
                </a:solidFill>
                <a:latin typeface="Calibri"/>
                <a:cs typeface="Calibri"/>
              </a:rPr>
              <a:t>Claude executa na sandbox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444444"/>
                </a:solidFill>
                <a:latin typeface="Calibri"/>
                <a:cs typeface="Calibri"/>
              </a:rPr>
              <a:t>Via CLI, com as ferramentas oficiais (Vlocity Build, DataPacks, sf CLI). Roda os jobs pós-carga e confere o resultado.</a:t>
            </a:r>
          </a:p>
        </p:txBody>
      </p:sp>
      <p:sp>
        <p:nvSpPr>
          <p:cNvPr id="11" name="Arrow"/>
          <p:cNvSpPr/>
          <p:nvPr/>
        </p:nvSpPr>
        <p:spPr>
          <a:xfrm>
            <a:off x="5468112" y="3246120"/>
            <a:ext cx="91440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pt-BR"/>
          </a:p>
        </p:txBody>
      </p:sp>
      <p:sp>
        <p:nvSpPr>
          <p:cNvPr id="12" name="Num"/>
          <p:cNvSpPr/>
          <p:nvPr/>
        </p:nvSpPr>
        <p:spPr>
          <a:xfrm>
            <a:off x="6126480" y="1188720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3" name="Step"/>
          <p:cNvSpPr/>
          <p:nvPr/>
        </p:nvSpPr>
        <p:spPr>
          <a:xfrm>
            <a:off x="5559552" y="1783080"/>
            <a:ext cx="1591056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250" b="1" i="0" dirty="0">
                <a:solidFill>
                  <a:srgbClr val="1F3864"/>
                </a:solidFill>
                <a:latin typeface="Calibri"/>
                <a:cs typeface="Calibri"/>
              </a:rPr>
              <a:t>Comercial homologa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444444"/>
                </a:solidFill>
                <a:latin typeface="Calibri"/>
                <a:cs typeface="Calibri"/>
              </a:rPr>
              <a:t>Testa as ofertas no carrinho da sandbox. Ajuste volta para o template, não para a mão do analista.</a:t>
            </a:r>
          </a:p>
        </p:txBody>
      </p:sp>
      <p:sp>
        <p:nvSpPr>
          <p:cNvPr id="14" name="Arrow"/>
          <p:cNvSpPr/>
          <p:nvPr/>
        </p:nvSpPr>
        <p:spPr>
          <a:xfrm>
            <a:off x="7168896" y="3246120"/>
            <a:ext cx="91440" cy="27432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endParaRPr lang="pt-BR"/>
          </a:p>
        </p:txBody>
      </p:sp>
      <p:sp>
        <p:nvSpPr>
          <p:cNvPr id="15" name="Num"/>
          <p:cNvSpPr/>
          <p:nvPr/>
        </p:nvSpPr>
        <p:spPr>
          <a:xfrm>
            <a:off x="7827264" y="1188720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6" name="Step"/>
          <p:cNvSpPr/>
          <p:nvPr/>
        </p:nvSpPr>
        <p:spPr>
          <a:xfrm>
            <a:off x="7260336" y="1783080"/>
            <a:ext cx="1591056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91440" tIns="91440" rIns="91440" bIns="91440" rtlCol="0" anchor="t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pt-BR" sz="1250" b="1" i="0" dirty="0">
                <a:solidFill>
                  <a:srgbClr val="1F3864"/>
                </a:solidFill>
                <a:latin typeface="Calibri"/>
                <a:cs typeface="Calibri"/>
              </a:rPr>
              <a:t>Pessoas publicam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1050" b="0" i="0" dirty="0">
                <a:solidFill>
                  <a:srgbClr val="444444"/>
                </a:solidFill>
                <a:latin typeface="Calibri"/>
                <a:cs typeface="Calibri"/>
              </a:rPr>
              <a:t>DataPack aprovado migra para produção pelo IDX, em janela, com evidência guardada.</a:t>
            </a:r>
          </a:p>
        </p:txBody>
      </p:sp>
      <p:sp>
        <p:nvSpPr>
          <p:cNvPr id="17" name="Card"/>
          <p:cNvSpPr/>
          <p:nvPr/>
        </p:nvSpPr>
        <p:spPr>
          <a:xfrm>
            <a:off x="457200" y="5166360"/>
            <a:ext cx="82296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1100" b="1" i="0" dirty="0">
                <a:solidFill>
                  <a:srgbClr val="444444"/>
                </a:solidFill>
                <a:latin typeface="Calibri"/>
                <a:cs typeface="Calibri"/>
              </a:rPr>
              <a:t>Sem Apex, sem Flow, sem wizard. </a:t>
            </a: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Nada é instalado na org: o Claude usa as ferramentas oficiais de linha de comando e o template é o único artefato que o negócio mantém.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100" b="1" i="0" dirty="0">
                <a:solidFill>
                  <a:srgbClr val="444444"/>
                </a:solidFill>
                <a:latin typeface="Calibri"/>
                <a:cs typeface="Calibri"/>
              </a:rPr>
              <a:t>O que continua com especialista: </a:t>
            </a: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tipo de objeto, atributo ou regra nova (modelagem), como já é hoje.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Por que este caminho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Resolve o que o wizard e o cadastro manual não resolvem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A62626"/>
                </a:solidFill>
                <a:latin typeface="Calibri"/>
                <a:cs typeface="Calibri"/>
              </a:rPr>
              <a:t>Wizard custom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Código Apex/LWC na org: 2 a 3 semanas de desenvolvimento antes da primeira carga.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Reimplementa validações que a interface já faz; erro só aparece no carrinho.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Manutenção a cada release do pacote, fora do suporte Salesforce.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Modelagem congelada durante o desenvolvimento.</a:t>
            </a:r>
          </a:p>
        </p:txBody>
      </p:sp>
      <p:sp>
        <p:nvSpPr>
          <p:cNvPr id="4" name="Card"/>
          <p:cNvSpPr/>
          <p:nvPr/>
        </p:nvSpPr>
        <p:spPr>
          <a:xfrm>
            <a:off x="3246120" y="114300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791F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B7791F"/>
                </a:solidFill>
                <a:latin typeface="Calibri"/>
                <a:cs typeface="Calibri"/>
              </a:rPr>
              <a:t>Cadastro manual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Sem código, mas não escala: 1 a 1,5 mês para o legado.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Consistência depende de cada analista; conhecimento concentrado.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Cadastro repetitivo: erro em preço, cardinalidade e catálogo.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Jobs pós-carga esquecidos após alterações em lote.</a:t>
            </a:r>
          </a:p>
        </p:txBody>
      </p:sp>
      <p:sp>
        <p:nvSpPr>
          <p:cNvPr id="5" name="Card"/>
          <p:cNvSpPr/>
          <p:nvPr/>
        </p:nvSpPr>
        <p:spPr>
          <a:xfrm>
            <a:off x="6035040" y="114300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Template + Claude via CLI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Nada instalado na org; ferramentas oficiais (DataPacks, Vlocity Build, sf CLI).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Começa na semana 1: não há conversor para construir.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Valida antes de gravar e confere depois; log de cada carga.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Escala para a carga completa e para a manutenção repetida.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Modelagem nova continua com o especialista.</a:t>
            </a:r>
          </a:p>
        </p:txBody>
      </p:sp>
      <p:sp>
        <p:nvSpPr>
          <p:cNvPr id="6" name="Pill"/>
          <p:cNvSpPr/>
          <p:nvPr/>
        </p:nvSpPr>
        <p:spPr>
          <a:xfrm>
            <a:off x="457200" y="5532120"/>
            <a:ext cx="8229600" cy="6858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O template já existe e foi validado. O que muda é quem executa: em vez de código na org ou de um analista campo a campo, o Claude roda o roteiro pela CLI e a pessoa aprova.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Segurança para decidir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Quatro garantias do modelo</a:t>
            </a:r>
          </a:p>
        </p:txBody>
      </p:sp>
      <p:sp>
        <p:nvSpPr>
          <p:cNvPr id="3" name="Num"/>
          <p:cNvSpPr/>
          <p:nvPr/>
        </p:nvSpPr>
        <p:spPr>
          <a:xfrm>
            <a:off x="594360" y="132588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" name="Box"/>
          <p:cNvSpPr/>
          <p:nvPr/>
        </p:nvSpPr>
        <p:spPr>
          <a:xfrm>
            <a:off x="457200" y="1188720"/>
            <a:ext cx="40233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5" name="Txt"/>
          <p:cNvSpPr txBox="1"/>
          <p:nvPr/>
        </p:nvSpPr>
        <p:spPr>
          <a:xfrm>
            <a:off x="1097280" y="128016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Sandbox primeiro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444444"/>
                </a:solidFill>
                <a:latin typeface="Calibri"/>
                <a:cs typeface="Calibri"/>
              </a:rPr>
              <a:t>Toda carga nasce na sandbox. Produção só recebe DataPack homologado, em janela, por uma pessoa.</a:t>
            </a:r>
          </a:p>
        </p:txBody>
      </p:sp>
      <p:sp>
        <p:nvSpPr>
          <p:cNvPr id="6" name="Num"/>
          <p:cNvSpPr/>
          <p:nvPr/>
        </p:nvSpPr>
        <p:spPr>
          <a:xfrm>
            <a:off x="4800600" y="132588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Box"/>
          <p:cNvSpPr/>
          <p:nvPr/>
        </p:nvSpPr>
        <p:spPr>
          <a:xfrm>
            <a:off x="4663440" y="1188720"/>
            <a:ext cx="40233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8" name="Txt"/>
          <p:cNvSpPr txBox="1"/>
          <p:nvPr/>
        </p:nvSpPr>
        <p:spPr>
          <a:xfrm>
            <a:off x="5303520" y="128016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Validar antes, conferir depois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444444"/>
                </a:solidFill>
                <a:latin typeface="Calibri"/>
                <a:cs typeface="Calibri"/>
              </a:rPr>
              <a:t>O Claude confere o template contra a org antes de gravar e relê o resultado depois. Erro de código, cardinalidade ou preço para a carga antes de existir a oferta.</a:t>
            </a:r>
          </a:p>
        </p:txBody>
      </p:sp>
      <p:sp>
        <p:nvSpPr>
          <p:cNvPr id="9" name="Num"/>
          <p:cNvSpPr/>
          <p:nvPr/>
        </p:nvSpPr>
        <p:spPr>
          <a:xfrm>
            <a:off x="594360" y="342900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" name="Box"/>
          <p:cNvSpPr/>
          <p:nvPr/>
        </p:nvSpPr>
        <p:spPr>
          <a:xfrm>
            <a:off x="457200" y="3291840"/>
            <a:ext cx="40233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11" name="Txt"/>
          <p:cNvSpPr txBox="1"/>
          <p:nvPr/>
        </p:nvSpPr>
        <p:spPr>
          <a:xfrm>
            <a:off x="1097280" y="338328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Evidência e versionamento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444444"/>
                </a:solidFill>
                <a:latin typeface="Calibri"/>
                <a:cs typeface="Calibri"/>
              </a:rPr>
              <a:t>Template aprovado, DataPack gerado e log da execução ficam guardados (Git). Cada carga tem dono, data e resultado.</a:t>
            </a:r>
          </a:p>
        </p:txBody>
      </p:sp>
      <p:sp>
        <p:nvSpPr>
          <p:cNvPr id="12" name="Num"/>
          <p:cNvSpPr/>
          <p:nvPr/>
        </p:nvSpPr>
        <p:spPr>
          <a:xfrm>
            <a:off x="4800600" y="342900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3" name="Box"/>
          <p:cNvSpPr/>
          <p:nvPr/>
        </p:nvSpPr>
        <p:spPr>
          <a:xfrm>
            <a:off x="4663440" y="3291840"/>
            <a:ext cx="40233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14" name="Txt"/>
          <p:cNvSpPr txBox="1"/>
          <p:nvPr/>
        </p:nvSpPr>
        <p:spPr>
          <a:xfrm>
            <a:off x="5303520" y="3383280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Ferramentas oficiais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444444"/>
                </a:solidFill>
                <a:latin typeface="Calibri"/>
                <a:cs typeface="Calibri"/>
              </a:rPr>
              <a:t>DataPacks e IDX são a rota documentada pela Salesforce para mover catálogo entre orgs. Jobs pós-carga na ordem da documentação.</a:t>
            </a:r>
          </a:p>
        </p:txBody>
      </p:sp>
      <p:sp>
        <p:nvSpPr>
          <p:cNvPr id="15" name="Pill"/>
          <p:cNvSpPr/>
          <p:nvPr/>
        </p:nvSpPr>
        <p:spPr>
          <a:xfrm>
            <a:off x="457200" y="5577840"/>
            <a:ext cx="8229600" cy="5486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É o mesmo método já usado no projeto desde julho: validar antes, executar, conferir depois, registrar no diário.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Quanto tempo leva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A primeira onda começa assim que os pré-requisitos estiverem prontos</a:t>
            </a:r>
          </a:p>
        </p:txBody>
      </p:sp>
      <p:sp>
        <p:nvSpPr>
          <p:cNvPr id="3" name="Th"/>
          <p:cNvSpPr/>
          <p:nvPr/>
        </p:nvSpPr>
        <p:spPr>
          <a:xfrm>
            <a:off x="457200" y="1143000"/>
            <a:ext cx="3429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Etapa</a:t>
            </a:r>
          </a:p>
        </p:txBody>
      </p:sp>
      <p:sp>
        <p:nvSpPr>
          <p:cNvPr id="4" name="Th"/>
          <p:cNvSpPr/>
          <p:nvPr/>
        </p:nvSpPr>
        <p:spPr>
          <a:xfrm>
            <a:off x="3931920" y="1143000"/>
            <a:ext cx="18288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Prazo</a:t>
            </a:r>
          </a:p>
        </p:txBody>
      </p:sp>
      <p:sp>
        <p:nvSpPr>
          <p:cNvPr id="5" name="Th"/>
          <p:cNvSpPr/>
          <p:nvPr/>
        </p:nvSpPr>
        <p:spPr>
          <a:xfrm>
            <a:off x="5806440" y="1143000"/>
            <a:ext cx="28803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Observação</a:t>
            </a:r>
          </a:p>
        </p:txBody>
      </p:sp>
      <p:sp>
        <p:nvSpPr>
          <p:cNvPr id="6" name="Td"/>
          <p:cNvSpPr/>
          <p:nvPr/>
        </p:nvSpPr>
        <p:spPr>
          <a:xfrm>
            <a:off x="457200" y="1581912"/>
            <a:ext cx="3429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1F3864"/>
                </a:solidFill>
                <a:latin typeface="Calibri"/>
                <a:cs typeface="Calibri"/>
              </a:rPr>
              <a:t>Onda 1: conectividade (11 ofertas, 16 componentes)</a:t>
            </a:r>
          </a:p>
        </p:txBody>
      </p:sp>
      <p:sp>
        <p:nvSpPr>
          <p:cNvPr id="7" name="Td"/>
          <p:cNvSpPr/>
          <p:nvPr/>
        </p:nvSpPr>
        <p:spPr>
          <a:xfrm>
            <a:off x="3931920" y="1581912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444444"/>
                </a:solidFill>
                <a:latin typeface="Calibri"/>
                <a:cs typeface="Calibri"/>
              </a:rPr>
              <a:t>1 a 2 semanas</a:t>
            </a:r>
          </a:p>
        </p:txBody>
      </p:sp>
      <p:sp>
        <p:nvSpPr>
          <p:cNvPr id="8" name="Td"/>
          <p:cNvSpPr/>
          <p:nvPr/>
        </p:nvSpPr>
        <p:spPr>
          <a:xfrm>
            <a:off x="5806440" y="1581912"/>
            <a:ext cx="2880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Carga na sandbox, homologação no carrinho e publicação</a:t>
            </a:r>
          </a:p>
        </p:txBody>
      </p:sp>
      <p:sp>
        <p:nvSpPr>
          <p:cNvPr id="9" name="Td"/>
          <p:cNvSpPr/>
          <p:nvPr/>
        </p:nvSpPr>
        <p:spPr>
          <a:xfrm>
            <a:off x="457200" y="2157984"/>
            <a:ext cx="342900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1F3864"/>
                </a:solidFill>
                <a:latin typeface="Calibri"/>
                <a:cs typeface="Calibri"/>
              </a:rPr>
              <a:t>Demais famílias</a:t>
            </a:r>
          </a:p>
        </p:txBody>
      </p:sp>
      <p:sp>
        <p:nvSpPr>
          <p:cNvPr id="10" name="Td"/>
          <p:cNvSpPr/>
          <p:nvPr/>
        </p:nvSpPr>
        <p:spPr>
          <a:xfrm>
            <a:off x="3931920" y="2157984"/>
            <a:ext cx="182880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444444"/>
                </a:solidFill>
                <a:latin typeface="Calibri"/>
                <a:cs typeface="Calibri"/>
              </a:rPr>
              <a:t>Por onda, pelo mesmo trilho</a:t>
            </a:r>
          </a:p>
        </p:txBody>
      </p:sp>
      <p:sp>
        <p:nvSpPr>
          <p:cNvPr id="11" name="Td"/>
          <p:cNvSpPr/>
          <p:nvPr/>
        </p:nvSpPr>
        <p:spPr>
          <a:xfrm>
            <a:off x="5806440" y="2157984"/>
            <a:ext cx="288036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Total sai do inventário preenchido no template</a:t>
            </a:r>
          </a:p>
        </p:txBody>
      </p:sp>
      <p:sp>
        <p:nvSpPr>
          <p:cNvPr id="12" name="Td"/>
          <p:cNvSpPr/>
          <p:nvPr/>
        </p:nvSpPr>
        <p:spPr>
          <a:xfrm>
            <a:off x="457200" y="2734056"/>
            <a:ext cx="3429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1F3864"/>
                </a:solidFill>
                <a:latin typeface="Calibri"/>
                <a:cs typeface="Calibri"/>
              </a:rPr>
              <a:t>Manutenção por oferta</a:t>
            </a:r>
          </a:p>
        </p:txBody>
      </p:sp>
      <p:sp>
        <p:nvSpPr>
          <p:cNvPr id="13" name="Td"/>
          <p:cNvSpPr/>
          <p:nvPr/>
        </p:nvSpPr>
        <p:spPr>
          <a:xfrm>
            <a:off x="3931920" y="2734056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444444"/>
                </a:solidFill>
                <a:latin typeface="Calibri"/>
                <a:cs typeface="Calibri"/>
              </a:rPr>
              <a:t>Horas</a:t>
            </a:r>
          </a:p>
        </p:txBody>
      </p:sp>
      <p:sp>
        <p:nvSpPr>
          <p:cNvPr id="14" name="Td"/>
          <p:cNvSpPr/>
          <p:nvPr/>
        </p:nvSpPr>
        <p:spPr>
          <a:xfrm>
            <a:off x="5806440" y="2734056"/>
            <a:ext cx="2880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Alterar o template e rodar de novo; sem recarregar o catálogo</a:t>
            </a:r>
          </a:p>
        </p:txBody>
      </p:sp>
      <p:sp>
        <p:nvSpPr>
          <p:cNvPr id="15" name="Card"/>
          <p:cNvSpPr/>
          <p:nvPr/>
        </p:nvSpPr>
        <p:spPr>
          <a:xfrm>
            <a:off x="457200" y="3429000"/>
            <a:ext cx="40233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Pré-requisitos para começar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Acesso do Claude à sandbox (usuário de integração com permissão no EPC).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Vlocity Build e sf CLI configurados no ambiente de execução.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Template preenchido com os códigos da org (catálogos, categorias, picklists).</a:t>
            </a:r>
          </a:p>
        </p:txBody>
      </p:sp>
      <p:sp>
        <p:nvSpPr>
          <p:cNvPr id="16" name="Card"/>
          <p:cNvSpPr/>
          <p:nvPr/>
        </p:nvSpPr>
        <p:spPr>
          <a:xfrm>
            <a:off x="4663440" y="3429000"/>
            <a:ext cx="402336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791F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B7791F"/>
                </a:solidFill>
                <a:latin typeface="Calibri"/>
                <a:cs typeface="Calibri"/>
              </a:rPr>
              <a:t>Pendências de negócio que travam a Onda 1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P1: prazo de contrato na oferta ou no componente (Joel).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P2: valores dos adicionais por oferta (Joel).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Dono do catálogo nomeado para homologar no carrinho.</a:t>
            </a:r>
          </a:p>
        </p:txBody>
      </p:sp>
      <p:sp>
        <p:nvSpPr>
          <p:cNvPr id="17" name="Pill"/>
          <p:cNvSpPr/>
          <p:nvPr/>
        </p:nvSpPr>
        <p:spPr>
          <a:xfrm>
            <a:off x="457200" y="5715000"/>
            <a:ext cx="8229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050" b="1" i="0" dirty="0">
                <a:solidFill>
                  <a:srgbClr val="FFFFFF"/>
                </a:solidFill>
                <a:latin typeface="Calibri"/>
                <a:cs typeface="Calibri"/>
              </a:rPr>
              <a:t>Prazos são estimativas de prática, a calibrar na Onda 1.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Decisões e próximos passos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O que precisa ser aprovado hoje e o que acontece em seguida</a:t>
            </a:r>
          </a:p>
        </p:txBody>
      </p:sp>
      <p:sp>
        <p:nvSpPr>
          <p:cNvPr id="3" name="Th"/>
          <p:cNvSpPr/>
          <p:nvPr/>
        </p:nvSpPr>
        <p:spPr>
          <a:xfrm>
            <a:off x="457200" y="1143000"/>
            <a:ext cx="420624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Ação</a:t>
            </a:r>
          </a:p>
        </p:txBody>
      </p:sp>
      <p:sp>
        <p:nvSpPr>
          <p:cNvPr id="4" name="Th"/>
          <p:cNvSpPr/>
          <p:nvPr/>
        </p:nvSpPr>
        <p:spPr>
          <a:xfrm>
            <a:off x="4709160" y="1143000"/>
            <a:ext cx="237744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Responsável</a:t>
            </a:r>
          </a:p>
        </p:txBody>
      </p:sp>
      <p:sp>
        <p:nvSpPr>
          <p:cNvPr id="5" name="Th"/>
          <p:cNvSpPr/>
          <p:nvPr/>
        </p:nvSpPr>
        <p:spPr>
          <a:xfrm>
            <a:off x="7132320" y="1143000"/>
            <a:ext cx="15544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Quando</a:t>
            </a:r>
          </a:p>
        </p:txBody>
      </p:sp>
      <p:sp>
        <p:nvSpPr>
          <p:cNvPr id="6" name="Td"/>
          <p:cNvSpPr/>
          <p:nvPr/>
        </p:nvSpPr>
        <p:spPr>
          <a:xfrm>
            <a:off x="457200" y="1600200"/>
            <a:ext cx="4206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1. Aprovar o modelo: template + Claude via CLI, sem wizard</a:t>
            </a:r>
          </a:p>
        </p:txBody>
      </p:sp>
      <p:sp>
        <p:nvSpPr>
          <p:cNvPr id="7" name="Td"/>
          <p:cNvSpPr/>
          <p:nvPr/>
        </p:nvSpPr>
        <p:spPr>
          <a:xfrm>
            <a:off x="4709160" y="1600200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Presidência</a:t>
            </a:r>
          </a:p>
        </p:txBody>
      </p:sp>
      <p:sp>
        <p:nvSpPr>
          <p:cNvPr id="8" name="Td"/>
          <p:cNvSpPr/>
          <p:nvPr/>
        </p:nvSpPr>
        <p:spPr>
          <a:xfrm>
            <a:off x="7132320" y="160020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esta semana</a:t>
            </a:r>
          </a:p>
        </p:txBody>
      </p:sp>
      <p:sp>
        <p:nvSpPr>
          <p:cNvPr id="9" name="Td"/>
          <p:cNvSpPr/>
          <p:nvPr/>
        </p:nvSpPr>
        <p:spPr>
          <a:xfrm>
            <a:off x="457200" y="2203704"/>
            <a:ext cx="42062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2. Nomear o dono do catálogo (homologa no carrinho)</a:t>
            </a:r>
          </a:p>
        </p:txBody>
      </p:sp>
      <p:sp>
        <p:nvSpPr>
          <p:cNvPr id="10" name="Td"/>
          <p:cNvSpPr/>
          <p:nvPr/>
        </p:nvSpPr>
        <p:spPr>
          <a:xfrm>
            <a:off x="4709160" y="2203704"/>
            <a:ext cx="23774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Presidência e Comercial</a:t>
            </a:r>
          </a:p>
        </p:txBody>
      </p:sp>
      <p:sp>
        <p:nvSpPr>
          <p:cNvPr id="11" name="Td"/>
          <p:cNvSpPr/>
          <p:nvPr/>
        </p:nvSpPr>
        <p:spPr>
          <a:xfrm>
            <a:off x="7132320" y="2203704"/>
            <a:ext cx="155448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esta semana</a:t>
            </a:r>
          </a:p>
        </p:txBody>
      </p:sp>
      <p:sp>
        <p:nvSpPr>
          <p:cNvPr id="12" name="Td"/>
          <p:cNvSpPr/>
          <p:nvPr/>
        </p:nvSpPr>
        <p:spPr>
          <a:xfrm>
            <a:off x="457200" y="2807208"/>
            <a:ext cx="4206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3. Fechar P1 e P2</a:t>
            </a:r>
          </a:p>
        </p:txBody>
      </p:sp>
      <p:sp>
        <p:nvSpPr>
          <p:cNvPr id="13" name="Td"/>
          <p:cNvSpPr/>
          <p:nvPr/>
        </p:nvSpPr>
        <p:spPr>
          <a:xfrm>
            <a:off x="4709160" y="2807208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Comercial (Joel)</a:t>
            </a:r>
          </a:p>
        </p:txBody>
      </p:sp>
      <p:sp>
        <p:nvSpPr>
          <p:cNvPr id="14" name="Td"/>
          <p:cNvSpPr/>
          <p:nvPr/>
        </p:nvSpPr>
        <p:spPr>
          <a:xfrm>
            <a:off x="7132320" y="2807208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semana 1</a:t>
            </a:r>
          </a:p>
        </p:txBody>
      </p:sp>
      <p:sp>
        <p:nvSpPr>
          <p:cNvPr id="15" name="Td"/>
          <p:cNvSpPr/>
          <p:nvPr/>
        </p:nvSpPr>
        <p:spPr>
          <a:xfrm>
            <a:off x="457200" y="3410712"/>
            <a:ext cx="42062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4. Acesso à sandbox e ambiente de execução do Claude</a:t>
            </a:r>
          </a:p>
        </p:txBody>
      </p:sp>
      <p:sp>
        <p:nvSpPr>
          <p:cNvPr id="16" name="Td"/>
          <p:cNvSpPr/>
          <p:nvPr/>
        </p:nvSpPr>
        <p:spPr>
          <a:xfrm>
            <a:off x="4709160" y="3410712"/>
            <a:ext cx="23774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Governança Salesforce com SysMap</a:t>
            </a:r>
          </a:p>
        </p:txBody>
      </p:sp>
      <p:sp>
        <p:nvSpPr>
          <p:cNvPr id="17" name="Td"/>
          <p:cNvSpPr/>
          <p:nvPr/>
        </p:nvSpPr>
        <p:spPr>
          <a:xfrm>
            <a:off x="7132320" y="3410712"/>
            <a:ext cx="155448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semana 1</a:t>
            </a:r>
          </a:p>
        </p:txBody>
      </p:sp>
      <p:sp>
        <p:nvSpPr>
          <p:cNvPr id="18" name="Td"/>
          <p:cNvSpPr/>
          <p:nvPr/>
        </p:nvSpPr>
        <p:spPr>
          <a:xfrm>
            <a:off x="457200" y="4014216"/>
            <a:ext cx="4206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5. Onda 1: conectividade na sandbox e homologação</a:t>
            </a:r>
          </a:p>
        </p:txBody>
      </p:sp>
      <p:sp>
        <p:nvSpPr>
          <p:cNvPr id="19" name="Td"/>
          <p:cNvSpPr/>
          <p:nvPr/>
        </p:nvSpPr>
        <p:spPr>
          <a:xfrm>
            <a:off x="4709160" y="4014216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SysMap com Comercial</a:t>
            </a:r>
          </a:p>
        </p:txBody>
      </p:sp>
      <p:sp>
        <p:nvSpPr>
          <p:cNvPr id="20" name="Td"/>
          <p:cNvSpPr/>
          <p:nvPr/>
        </p:nvSpPr>
        <p:spPr>
          <a:xfrm>
            <a:off x="7132320" y="4014216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semanas 1 e 2</a:t>
            </a:r>
          </a:p>
        </p:txBody>
      </p:sp>
      <p:sp>
        <p:nvSpPr>
          <p:cNvPr id="21" name="Td"/>
          <p:cNvSpPr/>
          <p:nvPr/>
        </p:nvSpPr>
        <p:spPr>
          <a:xfrm>
            <a:off x="457200" y="4617720"/>
            <a:ext cx="42062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6. Publicação em produção e roteiro de manutenção</a:t>
            </a:r>
          </a:p>
        </p:txBody>
      </p:sp>
      <p:sp>
        <p:nvSpPr>
          <p:cNvPr id="22" name="Td"/>
          <p:cNvSpPr/>
          <p:nvPr/>
        </p:nvSpPr>
        <p:spPr>
          <a:xfrm>
            <a:off x="4709160" y="4617720"/>
            <a:ext cx="237744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Governança Salesforce</a:t>
            </a:r>
          </a:p>
        </p:txBody>
      </p:sp>
      <p:sp>
        <p:nvSpPr>
          <p:cNvPr id="23" name="Td"/>
          <p:cNvSpPr/>
          <p:nvPr/>
        </p:nvSpPr>
        <p:spPr>
          <a:xfrm>
            <a:off x="7132320" y="4617720"/>
            <a:ext cx="1554480" cy="54864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semanas 2 e 3</a:t>
            </a:r>
          </a:p>
        </p:txBody>
      </p:sp>
      <p:sp>
        <p:nvSpPr>
          <p:cNvPr id="24" name="Pill"/>
          <p:cNvSpPr/>
          <p:nvPr/>
        </p:nvSpPr>
        <p:spPr>
          <a:xfrm>
            <a:off x="457200" y="5486400"/>
            <a:ext cx="8229600" cy="77724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50" b="1" i="0" dirty="0">
                <a:solidFill>
                  <a:srgbClr val="FFFFFF"/>
                </a:solidFill>
                <a:latin typeface="Calibri"/>
                <a:cs typeface="Calibri"/>
              </a:rPr>
              <a:t>O que a presidência ganha: a conectividade publicada em 2 a 3 semanas sem código na org, um catálogo mantido pelo template em vez de por pessoas específicas, e a publicação em produção sempre sob aprovação humana.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639</Words>
  <Application>Microsoft Office PowerPoint</Application>
  <PresentationFormat>Apresentação na tela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 Israel de Abreu</cp:lastModifiedBy>
  <cp:revision>3</cp:revision>
  <dcterms:created xsi:type="dcterms:W3CDTF">2013-01-27T09:14:16Z</dcterms:created>
  <dcterms:modified xsi:type="dcterms:W3CDTF">2026-09-15T19:06:54Z</dcterms:modified>
  <cp:category/>
</cp:coreProperties>
</file>