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24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828800"/>
            <a:ext cx="6991850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Template </a:t>
            </a:r>
            <a:r>
              <a:rPr lang="pt-BR" dirty="0"/>
              <a:t>VS</a:t>
            </a:r>
            <a:r>
              <a:rPr dirty="0"/>
              <a:t> </a:t>
            </a:r>
            <a:r>
              <a:rPr dirty="0" err="1"/>
              <a:t>ação</a:t>
            </a:r>
            <a:r>
              <a:rPr dirty="0"/>
              <a:t> manual de </a:t>
            </a:r>
            <a:r>
              <a:rPr dirty="0" err="1"/>
              <a:t>catálogo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283464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>
                <a:solidFill>
                  <a:srgbClr val="D9E2F3"/>
                </a:solidFill>
                <a:latin typeface="Calibri"/>
              </a:defRPr>
            </a:pPr>
            <a:r>
              <a:t>Definição do caminho para carga e manutenção no SFA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657600"/>
            <a:ext cx="78638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0">
                <a:solidFill>
                  <a:srgbClr val="D9E2F3"/>
                </a:solidFill>
                <a:latin typeface="Calibri"/>
              </a:defRPr>
            </a:pPr>
            <a:r>
              <a:t>Discussão técnica com a equipe de negócio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69280"/>
            <a:ext cx="330923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0">
                <a:solidFill>
                  <a:srgbClr val="D9E2F3"/>
                </a:solidFill>
                <a:latin typeface="Calibri"/>
              </a:defRPr>
            </a:pPr>
            <a:r>
              <a:rPr dirty="0" err="1"/>
              <a:t>Brasil</a:t>
            </a:r>
            <a:r>
              <a:rPr dirty="0"/>
              <a:t> </a:t>
            </a:r>
            <a:r>
              <a:rPr dirty="0" err="1"/>
              <a:t>TecPar</a:t>
            </a:r>
            <a:r>
              <a:rPr dirty="0"/>
              <a:t> </a:t>
            </a:r>
            <a:r>
              <a:rPr lang="pt-BR" dirty="0"/>
              <a:t>| </a:t>
            </a:r>
            <a:r>
              <a:rPr lang="pt-BR" dirty="0" err="1"/>
              <a:t>Sysmap</a:t>
            </a:r>
            <a:r>
              <a:rPr dirty="0"/>
              <a:t>| </a:t>
            </a:r>
            <a:r>
              <a:rPr dirty="0" err="1"/>
              <a:t>Catálogo</a:t>
            </a:r>
            <a:r>
              <a:rPr dirty="0"/>
              <a:t> EPC (</a:t>
            </a:r>
            <a:r>
              <a:rPr dirty="0" err="1"/>
              <a:t>Vlocity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0889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sz="1600" dirty="0" err="1"/>
              <a:t>Cenário</a:t>
            </a:r>
            <a:r>
              <a:rPr sz="1600" dirty="0"/>
              <a:t> e </a:t>
            </a:r>
            <a:r>
              <a:rPr sz="1600" dirty="0" err="1"/>
              <a:t>premissas</a:t>
            </a:r>
            <a:endParaRPr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80467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 sz="1700">
                <a:solidFill>
                  <a:srgbClr val="444444"/>
                </a:solidFill>
                <a:latin typeface="Calibri"/>
              </a:defRPr>
            </a:pPr>
            <a:r>
              <a:rPr dirty="0"/>
              <a:t>Uma carga completa </a:t>
            </a:r>
            <a:r>
              <a:rPr dirty="0" err="1"/>
              <a:t>única</a:t>
            </a:r>
            <a:r>
              <a:rPr dirty="0"/>
              <a:t> para </a:t>
            </a:r>
            <a:r>
              <a:rPr dirty="0" err="1"/>
              <a:t>trazer</a:t>
            </a:r>
            <a:r>
              <a:rPr dirty="0"/>
              <a:t> as </a:t>
            </a:r>
            <a:r>
              <a:rPr dirty="0" err="1"/>
              <a:t>ofertas</a:t>
            </a:r>
            <a:r>
              <a:rPr dirty="0"/>
              <a:t> do Customer Core para o SFA.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 sz="17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Manutenção</a:t>
            </a:r>
            <a:r>
              <a:rPr dirty="0"/>
              <a:t> </a:t>
            </a:r>
            <a:r>
              <a:rPr dirty="0" err="1"/>
              <a:t>pontual</a:t>
            </a:r>
            <a:r>
              <a:rPr dirty="0"/>
              <a:t> de 3 a 4 </a:t>
            </a:r>
            <a:r>
              <a:rPr dirty="0" err="1"/>
              <a:t>vezes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ano</a:t>
            </a:r>
            <a:r>
              <a:rPr dirty="0"/>
              <a:t>, </a:t>
            </a:r>
            <a:r>
              <a:rPr dirty="0" err="1"/>
              <a:t>ou</a:t>
            </a:r>
            <a:r>
              <a:rPr dirty="0"/>
              <a:t> mensal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ofertas</a:t>
            </a:r>
            <a:r>
              <a:rPr dirty="0"/>
              <a:t> </a:t>
            </a:r>
            <a:r>
              <a:rPr dirty="0" err="1"/>
              <a:t>específicas</a:t>
            </a:r>
            <a:r>
              <a:rPr dirty="0"/>
              <a:t>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 sz="1700">
                <a:solidFill>
                  <a:srgbClr val="444444"/>
                </a:solidFill>
                <a:latin typeface="Calibri"/>
              </a:defRPr>
            </a:pPr>
            <a:r>
              <a:rPr dirty="0"/>
              <a:t>A base EPC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pronta</a:t>
            </a:r>
            <a:r>
              <a:rPr dirty="0"/>
              <a:t>: </a:t>
            </a:r>
            <a:r>
              <a:rPr dirty="0" err="1"/>
              <a:t>tipos</a:t>
            </a:r>
            <a:r>
              <a:rPr dirty="0"/>
              <a:t> de </a:t>
            </a:r>
            <a:r>
              <a:rPr dirty="0" err="1"/>
              <a:t>objeto</a:t>
            </a:r>
            <a:r>
              <a:rPr dirty="0"/>
              <a:t>, </a:t>
            </a:r>
            <a:r>
              <a:rPr dirty="0" err="1"/>
              <a:t>atributos</a:t>
            </a:r>
            <a:r>
              <a:rPr dirty="0"/>
              <a:t>, </a:t>
            </a:r>
            <a:r>
              <a:rPr dirty="0" err="1"/>
              <a:t>listas</a:t>
            </a:r>
            <a:r>
              <a:rPr dirty="0"/>
              <a:t> de </a:t>
            </a:r>
            <a:r>
              <a:rPr dirty="0" err="1"/>
              <a:t>preço</a:t>
            </a:r>
            <a:r>
              <a:rPr dirty="0"/>
              <a:t>, </a:t>
            </a:r>
            <a:r>
              <a:rPr dirty="0" err="1"/>
              <a:t>variáveis</a:t>
            </a:r>
            <a:r>
              <a:rPr dirty="0"/>
              <a:t>, conjuntos de </a:t>
            </a:r>
            <a:r>
              <a:rPr dirty="0" err="1"/>
              <a:t>regras</a:t>
            </a:r>
            <a:r>
              <a:rPr dirty="0"/>
              <a:t> e </a:t>
            </a:r>
            <a:r>
              <a:rPr dirty="0" err="1"/>
              <a:t>regras</a:t>
            </a:r>
            <a:r>
              <a:rPr dirty="0"/>
              <a:t> de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 sz="1700">
                <a:solidFill>
                  <a:srgbClr val="444444"/>
                </a:solidFill>
                <a:latin typeface="Calibri"/>
              </a:defRPr>
            </a:pPr>
            <a:r>
              <a:rPr dirty="0"/>
              <a:t>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falta</a:t>
            </a:r>
            <a:r>
              <a:rPr dirty="0"/>
              <a:t> </a:t>
            </a:r>
            <a:r>
              <a:rPr dirty="0" err="1"/>
              <a:t>definir</a:t>
            </a:r>
            <a:r>
              <a:rPr dirty="0"/>
              <a:t> é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publicar</a:t>
            </a:r>
            <a:r>
              <a:rPr dirty="0"/>
              <a:t> as </a:t>
            </a:r>
            <a:r>
              <a:rPr dirty="0" err="1"/>
              <a:t>ofertas</a:t>
            </a:r>
            <a:r>
              <a:rPr dirty="0"/>
              <a:t>: </a:t>
            </a:r>
            <a:r>
              <a:rPr dirty="0" err="1"/>
              <a:t>planilha</a:t>
            </a:r>
            <a:r>
              <a:rPr dirty="0"/>
              <a:t> com </a:t>
            </a:r>
            <a:r>
              <a:rPr dirty="0" err="1"/>
              <a:t>conversor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cadastro</a:t>
            </a:r>
            <a:r>
              <a:rPr dirty="0"/>
              <a:t> manual </a:t>
            </a:r>
            <a:r>
              <a:rPr dirty="0" err="1"/>
              <a:t>na</a:t>
            </a:r>
            <a:r>
              <a:rPr dirty="0"/>
              <a:t> ferramenta.</a:t>
            </a: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ü"/>
              <a:defRPr sz="1700">
                <a:solidFill>
                  <a:srgbClr val="444444"/>
                </a:solidFill>
                <a:latin typeface="Calibri"/>
              </a:defRPr>
            </a:pPr>
            <a:r>
              <a:rPr dirty="0"/>
              <a:t>O template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cria</a:t>
            </a:r>
            <a:r>
              <a:rPr dirty="0"/>
              <a:t> </a:t>
            </a:r>
            <a:r>
              <a:rPr dirty="0" err="1"/>
              <a:t>modelagem</a:t>
            </a:r>
            <a:r>
              <a:rPr dirty="0"/>
              <a:t> nova. Ele </a:t>
            </a:r>
            <a:r>
              <a:rPr dirty="0" err="1"/>
              <a:t>converte</a:t>
            </a:r>
            <a:r>
              <a:rPr dirty="0"/>
              <a:t> a </a:t>
            </a:r>
            <a:r>
              <a:rPr dirty="0" err="1"/>
              <a:t>oferta</a:t>
            </a:r>
            <a:r>
              <a:rPr dirty="0"/>
              <a:t> para a </a:t>
            </a:r>
            <a:r>
              <a:rPr dirty="0" err="1"/>
              <a:t>estrutura</a:t>
            </a:r>
            <a:r>
              <a:rPr dirty="0"/>
              <a:t> EPC </a:t>
            </a:r>
            <a:r>
              <a:rPr dirty="0" err="1"/>
              <a:t>usando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existe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organização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Opção</a:t>
            </a:r>
            <a:r>
              <a:rPr dirty="0"/>
              <a:t> 1: Template com </a:t>
            </a:r>
            <a:r>
              <a:rPr dirty="0" err="1"/>
              <a:t>conversor</a:t>
            </a:r>
            <a:r>
              <a:rPr dirty="0"/>
              <a:t> </a:t>
            </a:r>
            <a:r>
              <a:rPr dirty="0" err="1"/>
              <a:t>automático</a:t>
            </a:r>
            <a:endParaRPr dirty="0"/>
          </a:p>
          <a:p>
            <a:pPr>
              <a:defRPr sz="1400">
                <a:solidFill>
                  <a:srgbClr val="D9E2F3"/>
                </a:solidFill>
                <a:latin typeface="Calibri"/>
              </a:defRPr>
            </a:pPr>
            <a:r>
              <a:rPr dirty="0"/>
              <a:t>A equipe de </a:t>
            </a:r>
            <a:r>
              <a:rPr dirty="0" err="1"/>
              <a:t>negócio</a:t>
            </a:r>
            <a:r>
              <a:rPr dirty="0"/>
              <a:t> </a:t>
            </a:r>
            <a:r>
              <a:rPr dirty="0" err="1"/>
              <a:t>preenche</a:t>
            </a:r>
            <a:r>
              <a:rPr dirty="0"/>
              <a:t> a </a:t>
            </a:r>
            <a:r>
              <a:rPr dirty="0" err="1"/>
              <a:t>planilha</a:t>
            </a:r>
            <a:r>
              <a:rPr dirty="0"/>
              <a:t> e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monta</a:t>
            </a:r>
            <a:r>
              <a:rPr dirty="0"/>
              <a:t> </a:t>
            </a:r>
            <a:r>
              <a:rPr dirty="0" err="1"/>
              <a:t>produto</a:t>
            </a:r>
            <a:r>
              <a:rPr dirty="0"/>
              <a:t>, </a:t>
            </a:r>
            <a:r>
              <a:rPr dirty="0" err="1"/>
              <a:t>hierarquia</a:t>
            </a:r>
            <a:r>
              <a:rPr dirty="0"/>
              <a:t>, </a:t>
            </a:r>
            <a:r>
              <a:rPr dirty="0" err="1"/>
              <a:t>catálogo</a:t>
            </a:r>
            <a:r>
              <a:rPr dirty="0"/>
              <a:t> e </a:t>
            </a:r>
            <a:r>
              <a:rPr dirty="0" err="1"/>
              <a:t>preço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organização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8229600" cy="685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Ins="152400" rtlCol="0" anchor="ctr"/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Esforço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de </a:t>
            </a:r>
            <a:r>
              <a:rPr dirty="0" err="1"/>
              <a:t>desenvolvimento</a:t>
            </a:r>
            <a:r>
              <a:rPr dirty="0"/>
              <a:t>:</a:t>
            </a:r>
            <a:r>
              <a:rPr lang="pt-BR" dirty="0"/>
              <a:t> 2 a 3 Semanas.</a:t>
            </a:r>
            <a:endParaRPr dirty="0"/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Carga completa </a:t>
            </a:r>
            <a:r>
              <a:rPr dirty="0" err="1"/>
              <a:t>após</a:t>
            </a:r>
            <a:r>
              <a:rPr dirty="0"/>
              <a:t> o </a:t>
            </a:r>
            <a:r>
              <a:rPr dirty="0" err="1"/>
              <a:t>conversor</a:t>
            </a:r>
            <a:r>
              <a:rPr dirty="0"/>
              <a:t> pronto: 1 a 2 </a:t>
            </a:r>
            <a:r>
              <a:rPr dirty="0" err="1"/>
              <a:t>semanas</a:t>
            </a:r>
            <a:r>
              <a:rPr dirty="0"/>
              <a:t>. </a:t>
            </a:r>
            <a:r>
              <a:rPr dirty="0" err="1"/>
              <a:t>Manutenção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oferta</a:t>
            </a:r>
            <a:r>
              <a:rPr dirty="0"/>
              <a:t>: de horas a 1 </a:t>
            </a:r>
            <a:r>
              <a:rPr dirty="0" err="1"/>
              <a:t>dia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977639" cy="4328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3611879" cy="313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B7A4E"/>
                </a:solidFill>
                <a:latin typeface="Calibri"/>
              </a:defRPr>
            </a:pPr>
            <a:r>
              <a:rPr lang="pt-BR" dirty="0"/>
              <a:t>Prós</a:t>
            </a:r>
            <a:endParaRPr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/>
              <a:t>Escala para a carga completa e para </a:t>
            </a:r>
            <a:r>
              <a:rPr dirty="0" err="1"/>
              <a:t>variações</a:t>
            </a:r>
            <a:r>
              <a:rPr dirty="0"/>
              <a:t> </a:t>
            </a:r>
            <a:r>
              <a:rPr dirty="0" err="1"/>
              <a:t>repetidas</a:t>
            </a:r>
            <a:r>
              <a:rPr dirty="0"/>
              <a:t> da </a:t>
            </a:r>
            <a:r>
              <a:rPr dirty="0" err="1"/>
              <a:t>mesma</a:t>
            </a:r>
            <a:r>
              <a:rPr dirty="0"/>
              <a:t> </a:t>
            </a:r>
            <a:r>
              <a:rPr dirty="0" err="1"/>
              <a:t>oferta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Padroniza</a:t>
            </a:r>
            <a:r>
              <a:rPr dirty="0"/>
              <a:t> </a:t>
            </a:r>
            <a:r>
              <a:rPr dirty="0" err="1"/>
              <a:t>código</a:t>
            </a:r>
            <a:r>
              <a:rPr dirty="0"/>
              <a:t> do </a:t>
            </a:r>
            <a:r>
              <a:rPr dirty="0" err="1"/>
              <a:t>produto</a:t>
            </a:r>
            <a:r>
              <a:rPr dirty="0"/>
              <a:t>, </a:t>
            </a:r>
            <a:r>
              <a:rPr dirty="0" err="1"/>
              <a:t>cardinalidade</a:t>
            </a:r>
            <a:r>
              <a:rPr dirty="0"/>
              <a:t>, </a:t>
            </a:r>
            <a:r>
              <a:rPr dirty="0" err="1"/>
              <a:t>preço</a:t>
            </a:r>
            <a:r>
              <a:rPr dirty="0"/>
              <a:t>, </a:t>
            </a:r>
            <a:r>
              <a:rPr dirty="0" err="1"/>
              <a:t>catálogo</a:t>
            </a:r>
            <a:r>
              <a:rPr dirty="0"/>
              <a:t> e </a:t>
            </a:r>
            <a:r>
              <a:rPr dirty="0" err="1"/>
              <a:t>vínculo</a:t>
            </a:r>
            <a:r>
              <a:rPr dirty="0"/>
              <a:t> com conjunto de </a:t>
            </a:r>
            <a:r>
              <a:rPr dirty="0" err="1"/>
              <a:t>regras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Reduz</a:t>
            </a:r>
            <a:r>
              <a:rPr dirty="0"/>
              <a:t> a </a:t>
            </a:r>
            <a:r>
              <a:rPr dirty="0" err="1"/>
              <a:t>dependência</a:t>
            </a:r>
            <a:r>
              <a:rPr dirty="0"/>
              <a:t> de </a:t>
            </a:r>
            <a:r>
              <a:rPr dirty="0" err="1"/>
              <a:t>poucos</a:t>
            </a:r>
            <a:r>
              <a:rPr dirty="0"/>
              <a:t> </a:t>
            </a:r>
            <a:r>
              <a:rPr dirty="0" err="1"/>
              <a:t>especialistas</a:t>
            </a:r>
            <a:r>
              <a:rPr dirty="0"/>
              <a:t> no EPC.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homologar</a:t>
            </a:r>
            <a:r>
              <a:rPr dirty="0"/>
              <a:t> o </a:t>
            </a:r>
            <a:r>
              <a:rPr dirty="0" err="1"/>
              <a:t>arquivo</a:t>
            </a:r>
            <a:r>
              <a:rPr dirty="0"/>
              <a:t> antes de </a:t>
            </a:r>
            <a:r>
              <a:rPr dirty="0" err="1"/>
              <a:t>publicar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produção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Manutenção</a:t>
            </a:r>
            <a:r>
              <a:rPr dirty="0"/>
              <a:t> incremental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recarregar</a:t>
            </a:r>
            <a:r>
              <a:rPr dirty="0"/>
              <a:t> o </a:t>
            </a:r>
            <a:r>
              <a:rPr dirty="0" err="1"/>
              <a:t>catálogo</a:t>
            </a:r>
            <a:r>
              <a:rPr dirty="0"/>
              <a:t> </a:t>
            </a:r>
            <a:r>
              <a:rPr dirty="0" err="1"/>
              <a:t>inteiro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920240"/>
            <a:ext cx="3977639" cy="4328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2057400"/>
            <a:ext cx="3611879" cy="3134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A62626"/>
                </a:solidFill>
                <a:latin typeface="Calibri"/>
              </a:defRPr>
            </a:pPr>
            <a:r>
              <a:rPr lang="pt-BR" dirty="0"/>
              <a:t>Contras</a:t>
            </a:r>
            <a:endParaRPr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/>
              <a:t>Exige </a:t>
            </a:r>
            <a:r>
              <a:rPr dirty="0" err="1"/>
              <a:t>investimento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conversor</a:t>
            </a:r>
            <a:r>
              <a:rPr dirty="0"/>
              <a:t>, validação e </a:t>
            </a:r>
            <a:r>
              <a:rPr dirty="0" err="1"/>
              <a:t>tarefas</a:t>
            </a:r>
            <a:r>
              <a:rPr dirty="0"/>
              <a:t> </a:t>
            </a:r>
            <a:r>
              <a:rPr dirty="0" err="1"/>
              <a:t>pós</a:t>
            </a:r>
            <a:r>
              <a:rPr dirty="0"/>
              <a:t>-carga.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/>
              <a:t>A </a:t>
            </a:r>
            <a:r>
              <a:rPr dirty="0" err="1"/>
              <a:t>planilha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usar </a:t>
            </a:r>
            <a:r>
              <a:rPr dirty="0" err="1"/>
              <a:t>códigos</a:t>
            </a:r>
            <a:r>
              <a:rPr dirty="0"/>
              <a:t> </a:t>
            </a:r>
            <a:r>
              <a:rPr dirty="0" err="1"/>
              <a:t>exatos</a:t>
            </a:r>
            <a:r>
              <a:rPr dirty="0"/>
              <a:t> da </a:t>
            </a:r>
            <a:r>
              <a:rPr dirty="0" err="1"/>
              <a:t>organização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cobre</a:t>
            </a:r>
            <a:r>
              <a:rPr dirty="0"/>
              <a:t> </a:t>
            </a:r>
            <a:r>
              <a:rPr dirty="0" err="1"/>
              <a:t>criação</a:t>
            </a:r>
            <a:r>
              <a:rPr dirty="0"/>
              <a:t> de 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objeto</a:t>
            </a:r>
            <a:r>
              <a:rPr dirty="0"/>
              <a:t>, </a:t>
            </a:r>
            <a:r>
              <a:rPr dirty="0" err="1"/>
              <a:t>atributo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regra</a:t>
            </a:r>
            <a:r>
              <a:rPr dirty="0"/>
              <a:t> com </a:t>
            </a:r>
            <a:r>
              <a:rPr dirty="0" err="1"/>
              <a:t>lógica</a:t>
            </a:r>
            <a:r>
              <a:rPr dirty="0"/>
              <a:t> nova.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Alteração</a:t>
            </a:r>
            <a:r>
              <a:rPr dirty="0"/>
              <a:t> de </a:t>
            </a:r>
            <a:r>
              <a:rPr dirty="0" err="1"/>
              <a:t>metadado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organização</a:t>
            </a:r>
            <a:r>
              <a:rPr dirty="0"/>
              <a:t>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atualizar</a:t>
            </a:r>
            <a:r>
              <a:rPr dirty="0"/>
              <a:t> o template e o </a:t>
            </a:r>
            <a:r>
              <a:rPr dirty="0" err="1"/>
              <a:t>conversor</a:t>
            </a:r>
            <a:r>
              <a:rPr dirty="0"/>
              <a:t>.</a:t>
            </a:r>
            <a:endParaRPr lang="pt-BR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lang="pt-BR" dirty="0"/>
              <a:t>Toda arquitetura do catálogo deve estar definida e sem alteração durante o desenvolvimento.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Opção</a:t>
            </a:r>
            <a:r>
              <a:rPr dirty="0"/>
              <a:t> 2: </a:t>
            </a:r>
            <a:r>
              <a:rPr dirty="0" err="1"/>
              <a:t>Ação</a:t>
            </a:r>
            <a:r>
              <a:rPr dirty="0"/>
              <a:t> manual </a:t>
            </a:r>
            <a:r>
              <a:rPr dirty="0" err="1"/>
              <a:t>na</a:t>
            </a:r>
            <a:r>
              <a:rPr dirty="0"/>
              <a:t> ferramenta EPC</a:t>
            </a:r>
          </a:p>
          <a:p>
            <a:pPr>
              <a:defRPr sz="1400">
                <a:solidFill>
                  <a:srgbClr val="D9E2F3"/>
                </a:solidFill>
                <a:latin typeface="Calibri"/>
              </a:defRPr>
            </a:pPr>
            <a:r>
              <a:rPr dirty="0"/>
              <a:t>O </a:t>
            </a:r>
            <a:r>
              <a:rPr dirty="0" err="1"/>
              <a:t>analista</a:t>
            </a:r>
            <a:r>
              <a:rPr dirty="0"/>
              <a:t> </a:t>
            </a:r>
            <a:r>
              <a:rPr dirty="0" err="1"/>
              <a:t>cadastra</a:t>
            </a:r>
            <a:r>
              <a:rPr dirty="0"/>
              <a:t> </a:t>
            </a:r>
            <a:r>
              <a:rPr dirty="0" err="1"/>
              <a:t>produto</a:t>
            </a:r>
            <a:r>
              <a:rPr dirty="0"/>
              <a:t>, </a:t>
            </a:r>
            <a:r>
              <a:rPr dirty="0" err="1"/>
              <a:t>hierarquia</a:t>
            </a:r>
            <a:r>
              <a:rPr dirty="0"/>
              <a:t>, </a:t>
            </a:r>
            <a:r>
              <a:rPr dirty="0" err="1"/>
              <a:t>catálogo</a:t>
            </a:r>
            <a:r>
              <a:rPr dirty="0"/>
              <a:t>, </a:t>
            </a:r>
            <a:r>
              <a:rPr dirty="0" err="1"/>
              <a:t>preço</a:t>
            </a:r>
            <a:r>
              <a:rPr dirty="0"/>
              <a:t> e </a:t>
            </a:r>
            <a:r>
              <a:rPr dirty="0" err="1"/>
              <a:t>regras</a:t>
            </a:r>
            <a:r>
              <a:rPr dirty="0"/>
              <a:t> </a:t>
            </a:r>
            <a:r>
              <a:rPr dirty="0" err="1"/>
              <a:t>diretamente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interface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8229600" cy="685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52400" rIns="152400" rtlCol="0" anchor="ctr"/>
          <a:lstStyle/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 err="1"/>
              <a:t>Esforço</a:t>
            </a:r>
            <a:r>
              <a:rPr dirty="0"/>
              <a:t> </a:t>
            </a:r>
            <a:r>
              <a:rPr dirty="0" err="1"/>
              <a:t>inicial</a:t>
            </a:r>
            <a:r>
              <a:rPr dirty="0"/>
              <a:t> de </a:t>
            </a:r>
            <a:r>
              <a:rPr dirty="0" err="1"/>
              <a:t>desenvolvimento</a:t>
            </a:r>
            <a:r>
              <a:rPr dirty="0"/>
              <a:t>:</a:t>
            </a:r>
            <a:r>
              <a:rPr lang="pt-BR" dirty="0"/>
              <a:t> Nenhum</a:t>
            </a:r>
            <a:endParaRPr dirty="0"/>
          </a:p>
          <a:p>
            <a:pPr>
              <a:defRPr sz="1300" b="1">
                <a:solidFill>
                  <a:srgbClr val="FFFFFF"/>
                </a:solidFill>
                <a:latin typeface="Calibri"/>
              </a:defRPr>
            </a:pPr>
            <a:r>
              <a:rPr dirty="0"/>
              <a:t>Carga completa do </a:t>
            </a:r>
            <a:r>
              <a:rPr dirty="0" err="1"/>
              <a:t>legado</a:t>
            </a:r>
            <a:r>
              <a:rPr dirty="0"/>
              <a:t> </a:t>
            </a:r>
            <a:r>
              <a:rPr dirty="0" err="1"/>
              <a:t>estimada</a:t>
            </a:r>
            <a:r>
              <a:rPr dirty="0"/>
              <a:t>: </a:t>
            </a:r>
            <a:r>
              <a:rPr lang="pt-BR" dirty="0"/>
              <a:t>1 a 1,5 mês.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920240"/>
            <a:ext cx="3977639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3611879" cy="270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1B7A4E"/>
                </a:solidFill>
                <a:latin typeface="Calibri"/>
              </a:defRPr>
            </a:pPr>
            <a:r>
              <a:rPr lang="pt-BR" dirty="0"/>
              <a:t>Prós</a:t>
            </a:r>
            <a:endParaRPr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/>
              <a:t>Cobre </a:t>
            </a:r>
            <a:r>
              <a:rPr dirty="0" err="1"/>
              <a:t>tudo</a:t>
            </a:r>
            <a:r>
              <a:rPr dirty="0"/>
              <a:t> o </a:t>
            </a:r>
            <a:r>
              <a:rPr dirty="0" err="1"/>
              <a:t>que</a:t>
            </a:r>
            <a:r>
              <a:rPr dirty="0"/>
              <a:t> o EPC </a:t>
            </a:r>
            <a:r>
              <a:rPr dirty="0" err="1"/>
              <a:t>permite</a:t>
            </a:r>
            <a:r>
              <a:rPr dirty="0"/>
              <a:t>,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limite</a:t>
            </a:r>
            <a:r>
              <a:rPr dirty="0"/>
              <a:t> de campos </a:t>
            </a:r>
            <a:r>
              <a:rPr dirty="0" err="1"/>
              <a:t>ou</a:t>
            </a:r>
            <a:r>
              <a:rPr dirty="0"/>
              <a:t> abas.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/>
              <a:t>Validação </a:t>
            </a:r>
            <a:r>
              <a:rPr dirty="0" err="1"/>
              <a:t>imediata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interface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salvar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relacionamento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de </a:t>
            </a:r>
            <a:r>
              <a:rPr dirty="0" err="1"/>
              <a:t>código</a:t>
            </a:r>
            <a:r>
              <a:rPr dirty="0"/>
              <a:t> </a:t>
            </a:r>
            <a:r>
              <a:rPr dirty="0" err="1"/>
              <a:t>personalizado</a:t>
            </a:r>
            <a:r>
              <a:rPr dirty="0"/>
              <a:t> nem de </a:t>
            </a:r>
            <a:r>
              <a:rPr dirty="0" err="1"/>
              <a:t>sincronização</a:t>
            </a:r>
            <a:r>
              <a:rPr dirty="0"/>
              <a:t> com </a:t>
            </a:r>
            <a:r>
              <a:rPr dirty="0" err="1"/>
              <a:t>planilha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Indicado</a:t>
            </a:r>
            <a:r>
              <a:rPr dirty="0"/>
              <a:t> para a </a:t>
            </a:r>
            <a:r>
              <a:rPr dirty="0" err="1"/>
              <a:t>primeira</a:t>
            </a:r>
            <a:r>
              <a:rPr dirty="0"/>
              <a:t> </a:t>
            </a:r>
            <a:r>
              <a:rPr dirty="0" err="1"/>
              <a:t>oferta</a:t>
            </a:r>
            <a:r>
              <a:rPr dirty="0"/>
              <a:t> de um </a:t>
            </a:r>
            <a:r>
              <a:rPr dirty="0" err="1"/>
              <a:t>padrão</a:t>
            </a:r>
            <a:r>
              <a:rPr dirty="0"/>
              <a:t> novo </a:t>
            </a:r>
            <a:r>
              <a:rPr dirty="0" err="1"/>
              <a:t>ou</a:t>
            </a:r>
            <a:r>
              <a:rPr dirty="0"/>
              <a:t> para </a:t>
            </a:r>
            <a:r>
              <a:rPr dirty="0" err="1"/>
              <a:t>correção</a:t>
            </a:r>
            <a:r>
              <a:rPr dirty="0"/>
              <a:t> </a:t>
            </a:r>
            <a:r>
              <a:rPr dirty="0" err="1"/>
              <a:t>pontual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/>
              <a:t>Histórico </a:t>
            </a:r>
            <a:r>
              <a:rPr dirty="0" err="1"/>
              <a:t>nativo</a:t>
            </a:r>
            <a:r>
              <a:rPr dirty="0"/>
              <a:t> de </a:t>
            </a:r>
            <a:r>
              <a:rPr dirty="0" err="1"/>
              <a:t>alteração</a:t>
            </a:r>
            <a:r>
              <a:rPr dirty="0"/>
              <a:t> no Salesforce.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1920240"/>
            <a:ext cx="3977639" cy="3977639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92040" y="2057400"/>
            <a:ext cx="3611879" cy="321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A62626"/>
                </a:solidFill>
                <a:latin typeface="Calibri"/>
              </a:defRPr>
            </a:pPr>
            <a:r>
              <a:rPr lang="pt-BR" dirty="0"/>
              <a:t>Contras</a:t>
            </a:r>
            <a:endParaRPr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 para </a:t>
            </a:r>
            <a:r>
              <a:rPr dirty="0" err="1"/>
              <a:t>dezenas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centenas</a:t>
            </a:r>
            <a:r>
              <a:rPr dirty="0"/>
              <a:t> de </a:t>
            </a:r>
            <a:r>
              <a:rPr dirty="0" err="1"/>
              <a:t>ofertas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carga completa.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/>
              <a:t>Alto </a:t>
            </a:r>
            <a:r>
              <a:rPr dirty="0" err="1"/>
              <a:t>custo</a:t>
            </a:r>
            <a:r>
              <a:rPr dirty="0"/>
              <a:t> de tempo e </a:t>
            </a:r>
            <a:r>
              <a:rPr dirty="0" err="1"/>
              <a:t>risco</a:t>
            </a:r>
            <a:r>
              <a:rPr dirty="0"/>
              <a:t> de </a:t>
            </a:r>
            <a:r>
              <a:rPr dirty="0" err="1"/>
              <a:t>inconsistência</a:t>
            </a:r>
            <a:r>
              <a:rPr dirty="0"/>
              <a:t> entre </a:t>
            </a:r>
            <a:r>
              <a:rPr dirty="0" err="1"/>
              <a:t>analistas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Conhecimento</a:t>
            </a:r>
            <a:r>
              <a:rPr dirty="0"/>
              <a:t> </a:t>
            </a:r>
            <a:r>
              <a:rPr dirty="0" err="1"/>
              <a:t>concentrado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poucas</a:t>
            </a:r>
            <a:r>
              <a:rPr dirty="0"/>
              <a:t> </a:t>
            </a:r>
            <a:r>
              <a:rPr dirty="0" err="1"/>
              <a:t>pessoas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Cadastro</a:t>
            </a:r>
            <a:r>
              <a:rPr dirty="0"/>
              <a:t> </a:t>
            </a:r>
            <a:r>
              <a:rPr dirty="0" err="1"/>
              <a:t>repetitivo</a:t>
            </a:r>
            <a:r>
              <a:rPr dirty="0"/>
              <a:t> </a:t>
            </a:r>
            <a:r>
              <a:rPr dirty="0" err="1"/>
              <a:t>aumenta</a:t>
            </a:r>
            <a:r>
              <a:rPr dirty="0"/>
              <a:t> o </a:t>
            </a:r>
            <a:r>
              <a:rPr dirty="0" err="1"/>
              <a:t>risco</a:t>
            </a:r>
            <a:r>
              <a:rPr dirty="0"/>
              <a:t> de </a:t>
            </a:r>
            <a:r>
              <a:rPr dirty="0" err="1"/>
              <a:t>erro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preço</a:t>
            </a:r>
            <a:r>
              <a:rPr dirty="0"/>
              <a:t>, </a:t>
            </a:r>
            <a:r>
              <a:rPr dirty="0" err="1"/>
              <a:t>cardinalidade</a:t>
            </a:r>
            <a:r>
              <a:rPr dirty="0"/>
              <a:t> e </a:t>
            </a:r>
            <a:r>
              <a:rPr dirty="0" err="1"/>
              <a:t>catálogo</a:t>
            </a:r>
            <a:r>
              <a:rPr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manutenção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ser </a:t>
            </a:r>
            <a:r>
              <a:rPr dirty="0" err="1"/>
              <a:t>esquecidas</a:t>
            </a:r>
            <a:r>
              <a:rPr dirty="0"/>
              <a:t> </a:t>
            </a:r>
            <a:r>
              <a:rPr dirty="0" err="1"/>
              <a:t>após</a:t>
            </a:r>
            <a:r>
              <a:rPr dirty="0"/>
              <a:t> </a:t>
            </a:r>
            <a:r>
              <a:rPr dirty="0" err="1"/>
              <a:t>alterações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lote</a:t>
            </a:r>
            <a:r>
              <a:rPr dirty="0"/>
              <a:t>.</a:t>
            </a:r>
            <a:endParaRPr lang="pt-BR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400">
                <a:solidFill>
                  <a:srgbClr val="444444"/>
                </a:solidFill>
                <a:latin typeface="Calibri"/>
              </a:defRPr>
            </a:pPr>
            <a:r>
              <a:rPr lang="pt-BR" dirty="0"/>
              <a:t>Governança forte em validação de testes.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9317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rPr sz="1600" dirty="0"/>
              <a:t>Quando usar </a:t>
            </a:r>
            <a:r>
              <a:rPr sz="1600" dirty="0" err="1"/>
              <a:t>cada</a:t>
            </a:r>
            <a:r>
              <a:rPr sz="1600" dirty="0"/>
              <a:t> </a:t>
            </a:r>
            <a:r>
              <a:rPr sz="1600" dirty="0" err="1"/>
              <a:t>caminho</a:t>
            </a:r>
            <a:endParaRPr sz="1600" dirty="0"/>
          </a:p>
        </p:txBody>
      </p:sp>
      <p:sp>
        <p:nvSpPr>
          <p:cNvPr id="3" name="Rounded Rectangle 2"/>
          <p:cNvSpPr/>
          <p:nvPr/>
        </p:nvSpPr>
        <p:spPr>
          <a:xfrm>
            <a:off x="457200" y="1325880"/>
            <a:ext cx="3977639" cy="275375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463039"/>
            <a:ext cx="3611879" cy="2410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2E75B6"/>
                </a:solidFill>
                <a:latin typeface="Calibri"/>
              </a:defRPr>
            </a:pPr>
            <a:r>
              <a:rPr dirty="0" err="1"/>
              <a:t>Priorizar</a:t>
            </a:r>
            <a:r>
              <a:rPr dirty="0"/>
              <a:t> o template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/>
              <a:t>Carga completa do </a:t>
            </a:r>
            <a:r>
              <a:rPr dirty="0" err="1"/>
              <a:t>legado</a:t>
            </a:r>
            <a:r>
              <a:rPr dirty="0"/>
              <a:t> do Customer Core.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Variação</a:t>
            </a:r>
            <a:r>
              <a:rPr dirty="0"/>
              <a:t> de </a:t>
            </a:r>
            <a:r>
              <a:rPr dirty="0" err="1"/>
              <a:t>velocidade</a:t>
            </a:r>
            <a:r>
              <a:rPr dirty="0"/>
              <a:t>, </a:t>
            </a:r>
            <a:r>
              <a:rPr dirty="0" err="1"/>
              <a:t>preço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componente</a:t>
            </a:r>
            <a:r>
              <a:rPr dirty="0"/>
              <a:t> </a:t>
            </a:r>
            <a:r>
              <a:rPr dirty="0" err="1"/>
              <a:t>filho</a:t>
            </a:r>
            <a:r>
              <a:rPr dirty="0"/>
              <a:t> no </a:t>
            </a:r>
            <a:r>
              <a:rPr dirty="0" err="1"/>
              <a:t>mesmo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Alteração</a:t>
            </a:r>
            <a:r>
              <a:rPr dirty="0"/>
              <a:t> </a:t>
            </a:r>
            <a:r>
              <a:rPr dirty="0" err="1"/>
              <a:t>recorrente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ofertas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modeladas</a:t>
            </a:r>
            <a:r>
              <a:rPr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Necessidade</a:t>
            </a:r>
            <a:r>
              <a:rPr dirty="0"/>
              <a:t> de </a:t>
            </a:r>
            <a:r>
              <a:rPr dirty="0" err="1"/>
              <a:t>evidência</a:t>
            </a:r>
            <a:r>
              <a:rPr dirty="0"/>
              <a:t> e auditoria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arquivo</a:t>
            </a:r>
            <a:r>
              <a:rPr dirty="0"/>
              <a:t> </a:t>
            </a:r>
            <a:r>
              <a:rPr dirty="0" err="1"/>
              <a:t>aprovado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09160" y="1325880"/>
            <a:ext cx="3977639" cy="2753751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92040" y="1463039"/>
            <a:ext cx="3611879" cy="198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F3864"/>
                </a:solidFill>
                <a:latin typeface="Calibri"/>
              </a:defRPr>
            </a:pPr>
            <a:r>
              <a:rPr dirty="0" err="1"/>
              <a:t>Priorizar</a:t>
            </a:r>
            <a:r>
              <a:rPr dirty="0"/>
              <a:t> o manual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/>
              <a:t>Tipo de </a:t>
            </a:r>
            <a:r>
              <a:rPr dirty="0" err="1"/>
              <a:t>objeto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</a:t>
            </a:r>
            <a:r>
              <a:rPr dirty="0" err="1"/>
              <a:t>atributo</a:t>
            </a:r>
            <a:r>
              <a:rPr dirty="0"/>
              <a:t> global novo.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Promoção</a:t>
            </a:r>
            <a:r>
              <a:rPr lang="pt-BR" dirty="0"/>
              <a:t>/Ofertas</a:t>
            </a:r>
            <a:r>
              <a:rPr dirty="0"/>
              <a:t> com </a:t>
            </a:r>
            <a:r>
              <a:rPr dirty="0" err="1"/>
              <a:t>lógica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</a:t>
            </a:r>
            <a:r>
              <a:rPr dirty="0" err="1"/>
              <a:t>complexa</a:t>
            </a:r>
            <a:r>
              <a:rPr dirty="0"/>
              <a:t>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Regra</a:t>
            </a:r>
            <a:r>
              <a:rPr dirty="0"/>
              <a:t> de </a:t>
            </a:r>
            <a:r>
              <a:rPr dirty="0" err="1"/>
              <a:t>contexto</a:t>
            </a:r>
            <a:r>
              <a:rPr dirty="0"/>
              <a:t> </a:t>
            </a:r>
            <a:r>
              <a:rPr dirty="0" err="1"/>
              <a:t>ou</a:t>
            </a:r>
            <a:r>
              <a:rPr dirty="0"/>
              <a:t> conjunto de </a:t>
            </a:r>
            <a:r>
              <a:rPr dirty="0" err="1"/>
              <a:t>expressões</a:t>
            </a:r>
            <a:r>
              <a:rPr dirty="0"/>
              <a:t> novo.</a:t>
            </a:r>
          </a:p>
          <a:p>
            <a:pPr marL="342900" indent="-342900">
              <a:spcAft>
                <a:spcPts val="600"/>
              </a:spcAft>
              <a:buFont typeface="+mj-lt"/>
              <a:buAutoNum type="arabicPeriod"/>
              <a:defRPr sz="1400">
                <a:solidFill>
                  <a:srgbClr val="444444"/>
                </a:solidFill>
                <a:latin typeface="Calibri"/>
              </a:defRPr>
            </a:pPr>
            <a:r>
              <a:rPr dirty="0" err="1"/>
              <a:t>Correção</a:t>
            </a:r>
            <a:r>
              <a:rPr dirty="0"/>
              <a:t> </a:t>
            </a:r>
            <a:r>
              <a:rPr dirty="0" err="1"/>
              <a:t>urgente</a:t>
            </a:r>
            <a:r>
              <a:rPr dirty="0"/>
              <a:t> e </a:t>
            </a:r>
            <a:r>
              <a:rPr dirty="0" err="1"/>
              <a:t>pontual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produção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2296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Recomendação final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7863840" cy="18288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rIns="177800" rtlCol="0" anchor="ctr"/>
          <a:lstStyle/>
          <a:p>
            <a:pPr algn="ctr">
              <a:spcAft>
                <a:spcPts val="6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Seguir com modelo híbrido.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Template com conversor para a carga completa e para a manutenção repetitiva de ofertas.</a:t>
            </a:r>
          </a:p>
          <a:p>
            <a:pPr>
              <a:spcAft>
                <a:spcPts val="600"/>
              </a:spcAft>
              <a:defRPr sz="1700" b="0">
                <a:solidFill>
                  <a:srgbClr val="FFFFFF"/>
                </a:solidFill>
                <a:latin typeface="Calibri"/>
              </a:defRPr>
            </a:pPr>
            <a:r>
              <a:t>Ação manual apenas para exceções, modelagem nova e correções pontuais.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80467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D9E2F3"/>
                </a:solidFill>
                <a:latin typeface="Calibri"/>
              </a:defRPr>
            </a:pPr>
            <a:r>
              <a:rPr dirty="0"/>
              <a:t>O </a:t>
            </a:r>
            <a:r>
              <a:rPr dirty="0" err="1"/>
              <a:t>conversor</a:t>
            </a:r>
            <a:r>
              <a:rPr dirty="0"/>
              <a:t> </a:t>
            </a:r>
            <a:r>
              <a:rPr dirty="0" err="1"/>
              <a:t>lê</a:t>
            </a:r>
            <a:r>
              <a:rPr dirty="0"/>
              <a:t> a </a:t>
            </a:r>
            <a:r>
              <a:rPr dirty="0" err="1"/>
              <a:t>planilha</a:t>
            </a:r>
            <a:r>
              <a:rPr dirty="0"/>
              <a:t> e </a:t>
            </a:r>
            <a:r>
              <a:rPr dirty="0" err="1"/>
              <a:t>instancia</a:t>
            </a:r>
            <a:r>
              <a:rPr dirty="0"/>
              <a:t> </a:t>
            </a:r>
            <a:r>
              <a:rPr dirty="0" err="1"/>
              <a:t>produto</a:t>
            </a:r>
            <a:r>
              <a:rPr dirty="0"/>
              <a:t>, </a:t>
            </a:r>
            <a:r>
              <a:rPr dirty="0" err="1"/>
              <a:t>hierarquia</a:t>
            </a:r>
            <a:r>
              <a:rPr dirty="0"/>
              <a:t>, </a:t>
            </a:r>
            <a:r>
              <a:rPr dirty="0" err="1"/>
              <a:t>catálogo</a:t>
            </a:r>
            <a:r>
              <a:rPr dirty="0"/>
              <a:t>, </a:t>
            </a:r>
            <a:r>
              <a:rPr dirty="0" err="1"/>
              <a:t>preço</a:t>
            </a:r>
            <a:r>
              <a:rPr dirty="0"/>
              <a:t> e </a:t>
            </a:r>
            <a:r>
              <a:rPr dirty="0" err="1"/>
              <a:t>atribuição</a:t>
            </a:r>
            <a:r>
              <a:rPr dirty="0"/>
              <a:t> de </a:t>
            </a:r>
            <a:r>
              <a:rPr dirty="0" err="1"/>
              <a:t>regras</a:t>
            </a:r>
            <a:r>
              <a:rPr dirty="0"/>
              <a:t> </a:t>
            </a:r>
            <a:r>
              <a:rPr dirty="0" err="1"/>
              <a:t>já</a:t>
            </a:r>
            <a:r>
              <a:rPr dirty="0"/>
              <a:t> </a:t>
            </a:r>
            <a:r>
              <a:rPr dirty="0" err="1"/>
              <a:t>existentes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600">
                <a:solidFill>
                  <a:srgbClr val="D9E2F3"/>
                </a:solidFill>
                <a:latin typeface="Calibri"/>
              </a:defRPr>
            </a:pPr>
            <a:r>
              <a:rPr dirty="0" err="1"/>
              <a:t>Após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carga, o </a:t>
            </a:r>
            <a:r>
              <a:rPr dirty="0" err="1"/>
              <a:t>sistema</a:t>
            </a:r>
            <a:r>
              <a:rPr dirty="0"/>
              <a:t> </a:t>
            </a:r>
            <a:r>
              <a:rPr dirty="0" err="1"/>
              <a:t>deve</a:t>
            </a:r>
            <a:r>
              <a:rPr dirty="0"/>
              <a:t> </a:t>
            </a:r>
            <a:r>
              <a:rPr dirty="0" err="1"/>
              <a:t>executar</a:t>
            </a:r>
            <a:r>
              <a:rPr dirty="0"/>
              <a:t> as </a:t>
            </a:r>
            <a:r>
              <a:rPr dirty="0" err="1"/>
              <a:t>tarefas</a:t>
            </a:r>
            <a:r>
              <a:rPr dirty="0"/>
              <a:t> de </a:t>
            </a:r>
            <a:r>
              <a:rPr dirty="0" err="1"/>
              <a:t>hierarquia</a:t>
            </a:r>
            <a:r>
              <a:rPr dirty="0"/>
              <a:t>, </a:t>
            </a:r>
            <a:r>
              <a:rPr dirty="0" err="1"/>
              <a:t>precificação</a:t>
            </a:r>
            <a:r>
              <a:rPr dirty="0"/>
              <a:t> e cache </a:t>
            </a:r>
            <a:r>
              <a:rPr dirty="0" err="1"/>
              <a:t>sem</a:t>
            </a:r>
            <a:r>
              <a:rPr dirty="0"/>
              <a:t> </a:t>
            </a:r>
            <a:r>
              <a:rPr dirty="0" err="1"/>
              <a:t>ação</a:t>
            </a:r>
            <a:r>
              <a:rPr dirty="0"/>
              <a:t> manual do </a:t>
            </a:r>
            <a:r>
              <a:rPr dirty="0" err="1"/>
              <a:t>usuário</a:t>
            </a:r>
            <a:r>
              <a:rPr dirty="0"/>
              <a:t>.</a:t>
            </a:r>
          </a:p>
          <a:p>
            <a:pPr>
              <a:spcAft>
                <a:spcPts val="1200"/>
              </a:spcAft>
              <a:defRPr sz="1600">
                <a:solidFill>
                  <a:srgbClr val="D9E2F3"/>
                </a:solidFill>
                <a:latin typeface="Calibri"/>
              </a:defRPr>
            </a:pPr>
            <a:r>
              <a:rPr dirty="0" err="1"/>
              <a:t>Promoções</a:t>
            </a:r>
            <a:r>
              <a:rPr dirty="0"/>
              <a:t> e </a:t>
            </a:r>
            <a:r>
              <a:rPr dirty="0" err="1"/>
              <a:t>regras</a:t>
            </a:r>
            <a:r>
              <a:rPr dirty="0"/>
              <a:t> com </a:t>
            </a:r>
            <a:r>
              <a:rPr dirty="0" err="1"/>
              <a:t>lógica</a:t>
            </a:r>
            <a:r>
              <a:rPr dirty="0"/>
              <a:t> nova </a:t>
            </a:r>
            <a:r>
              <a:rPr dirty="0" err="1"/>
              <a:t>permanecem</a:t>
            </a:r>
            <a:r>
              <a:rPr dirty="0"/>
              <a:t> no </a:t>
            </a:r>
            <a:r>
              <a:rPr dirty="0" err="1"/>
              <a:t>fluxo</a:t>
            </a:r>
            <a:r>
              <a:rPr dirty="0"/>
              <a:t> </a:t>
            </a:r>
            <a:r>
              <a:rPr dirty="0" err="1"/>
              <a:t>técnico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639</Words>
  <Application>Microsoft Office PowerPoint</Application>
  <PresentationFormat>Apresentação na tela (4:3)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 Israel de Abreu</cp:lastModifiedBy>
  <cp:revision>3</cp:revision>
  <dcterms:created xsi:type="dcterms:W3CDTF">2013-01-27T09:14:16Z</dcterms:created>
  <dcterms:modified xsi:type="dcterms:W3CDTF">2026-09-15T19:06:54Z</dcterms:modified>
  <cp:category/>
</cp:coreProperties>
</file>